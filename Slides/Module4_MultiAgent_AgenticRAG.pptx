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wb1wgp4XSMwas+BHZrN57KNJ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0D7ED3-6F9C-46DF-89C8-0D94FA097A42}">
  <a:tblStyle styleId="{470D7ED3-6F9C-46DF-89C8-0D94FA097A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6958c29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f6958c295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3f6958c295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sanathrajnarayan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light in the middle&#10;&#10;AI-generated content may be incorrect.">
            <a:extLst>
              <a:ext uri="{FF2B5EF4-FFF2-40B4-BE49-F238E27FC236}">
                <a16:creationId xmlns:a16="http://schemas.microsoft.com/office/drawing/2014/main" id="{7D8BAA25-BEF8-FD15-BDCC-5606CE45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Shape 0">
            <a:extLst>
              <a:ext uri="{FF2B5EF4-FFF2-40B4-BE49-F238E27FC236}">
                <a16:creationId xmlns:a16="http://schemas.microsoft.com/office/drawing/2014/main" id="{B3424937-3A67-470E-B8E8-14C7E5AF39B2}"/>
              </a:ext>
            </a:extLst>
          </p:cNvPr>
          <p:cNvSpPr/>
          <p:nvPr/>
        </p:nvSpPr>
        <p:spPr>
          <a:xfrm>
            <a:off x="592920" y="1880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A1330"/>
          </a:solidFill>
          <a:ln w="15875">
            <a:solidFill>
              <a:srgbClr val="667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BF6E60B6-F86F-C13F-3C78-74B2BF51C6AF}"/>
              </a:ext>
            </a:extLst>
          </p:cNvPr>
          <p:cNvSpPr/>
          <p:nvPr/>
        </p:nvSpPr>
        <p:spPr>
          <a:xfrm>
            <a:off x="589320" y="1882920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667799"/>
                </a:solidFill>
                <a:latin typeface="Arial"/>
                <a:cs typeface="Arial"/>
              </a:rPr>
              <a:t>WORKSHOP</a:t>
            </a:r>
            <a:endParaRPr lang="en-US" sz="1150" b="1" kern="0" spc="200" dirty="0">
              <a:solidFill>
                <a:srgbClr val="1A8754"/>
              </a:solidFill>
              <a:latin typeface="Arial"/>
              <a:cs typeface="Arial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D1E8A9F6-C405-0EEE-E646-0C9F1DDE45B2}"/>
              </a:ext>
            </a:extLst>
          </p:cNvPr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05000"/>
              </a:lnSpc>
              <a:buClr>
                <a:srgbClr val="F2F2F2"/>
              </a:buClr>
              <a:buSzPts val="4200"/>
            </a:pPr>
            <a:r>
              <a:rPr lang="en-US" sz="3200" b="1" dirty="0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Multi-Agentic RAG Systems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5FB6A1C-D9F3-30D2-8F5F-942183A996E9}"/>
              </a:ext>
            </a:extLst>
          </p:cNvPr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i="1">
              <a:solidFill>
                <a:srgbClr val="1FB6A6"/>
              </a:solidFill>
              <a:ea typeface="Calibri"/>
              <a:cs typeface="Calibri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326E244-8E2E-C4F5-23FF-FF150AEE2A91}"/>
              </a:ext>
            </a:extLst>
          </p:cNvPr>
          <p:cNvSpPr/>
          <p:nvPr/>
        </p:nvSpPr>
        <p:spPr>
          <a:xfrm>
            <a:off x="512064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SPEAKER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2CAA69A2-CCC7-87BC-BBE4-64415E33A69E}"/>
              </a:ext>
            </a:extLst>
          </p:cNvPr>
          <p:cNvSpPr/>
          <p:nvPr/>
        </p:nvSpPr>
        <p:spPr>
          <a:xfrm>
            <a:off x="506809" y="5036978"/>
            <a:ext cx="1064698" cy="30638"/>
          </a:xfrm>
          <a:prstGeom prst="rect">
            <a:avLst/>
          </a:prstGeom>
          <a:solidFill>
            <a:srgbClr val="667799"/>
          </a:solidFill>
          <a:ln>
            <a:solidFill>
              <a:srgbClr val="6677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626BBB6-3D51-C7BD-9970-6E777EB41769}"/>
              </a:ext>
            </a:extLst>
          </p:cNvPr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AEB6CF"/>
              </a:solidFill>
              <a:ea typeface="Calibri"/>
              <a:cs typeface="Calibri"/>
            </a:endParaRPr>
          </a:p>
        </p:txBody>
      </p:sp>
      <p:sp>
        <p:nvSpPr>
          <p:cNvPr id="46" name="Text Footer Date">
            <a:extLst>
              <a:ext uri="{FF2B5EF4-FFF2-40B4-BE49-F238E27FC236}">
                <a16:creationId xmlns:a16="http://schemas.microsoft.com/office/drawing/2014/main" id="{3FF3F551-4B54-D322-12B0-9564AAEF34E7}"/>
              </a:ext>
            </a:extLst>
          </p:cNvPr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>
              <a:solidFill>
                <a:srgbClr val="9AA4C0"/>
              </a:solidFill>
              <a:ea typeface="Calibri"/>
              <a:cs typeface="Calibri"/>
            </a:endParaRPr>
          </a:p>
        </p:txBody>
      </p:sp>
      <p:sp>
        <p:nvSpPr>
          <p:cNvPr id="48" name="Text Footer HxAI">
            <a:extLst>
              <a:ext uri="{FF2B5EF4-FFF2-40B4-BE49-F238E27FC236}">
                <a16:creationId xmlns:a16="http://schemas.microsoft.com/office/drawing/2014/main" id="{6C451574-F5BB-9285-BAF6-2B75B583628A}"/>
              </a:ext>
            </a:extLst>
          </p:cNvPr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>
              <a:solidFill>
                <a:srgbClr val="9AA4C0"/>
              </a:solidFill>
              <a:latin typeface="Arial"/>
              <a:cs typeface="Arial"/>
            </a:endParaRPr>
          </a:p>
        </p:txBody>
      </p:sp>
      <p:pic>
        <p:nvPicPr>
          <p:cNvPr id="50" name="Picture 49" descr="A black and white logo  AI-generated content may be incorrect.">
            <a:extLst>
              <a:ext uri="{FF2B5EF4-FFF2-40B4-BE49-F238E27FC236}">
                <a16:creationId xmlns:a16="http://schemas.microsoft.com/office/drawing/2014/main" id="{9E43B2A8-462F-4937-FAA5-C6E77C82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3" y="226513"/>
            <a:ext cx="3196169" cy="57782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2D9759D-184D-D9B4-F3AC-BBF121B52A94}"/>
              </a:ext>
            </a:extLst>
          </p:cNvPr>
          <p:cNvSpPr txBox="1"/>
          <p:nvPr/>
        </p:nvSpPr>
        <p:spPr>
          <a:xfrm>
            <a:off x="33300" y="0"/>
            <a:ext cx="399605" cy="59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Google Shape;18;p1">
            <a:extLst>
              <a:ext uri="{FF2B5EF4-FFF2-40B4-BE49-F238E27FC236}">
                <a16:creationId xmlns:a16="http://schemas.microsoft.com/office/drawing/2014/main" id="{F8D6EBA5-68D2-B2EE-F5E4-6BF9DDB053F5}"/>
              </a:ext>
            </a:extLst>
          </p:cNvPr>
          <p:cNvSpPr/>
          <p:nvPr/>
        </p:nvSpPr>
        <p:spPr>
          <a:xfrm>
            <a:off x="502922" y="5175500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Sanathraj Narayan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10" name="Google Shape;22;p1">
            <a:extLst>
              <a:ext uri="{FF2B5EF4-FFF2-40B4-BE49-F238E27FC236}">
                <a16:creationId xmlns:a16="http://schemas.microsoft.com/office/drawing/2014/main" id="{5A4E8405-6966-81C1-E39E-0AE25ACF6803}"/>
              </a:ext>
            </a:extLst>
          </p:cNvPr>
          <p:cNvSpPr/>
          <p:nvPr/>
        </p:nvSpPr>
        <p:spPr>
          <a:xfrm>
            <a:off x="558133" y="5628275"/>
            <a:ext cx="249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4;p1">
            <a:extLst>
              <a:ext uri="{FF2B5EF4-FFF2-40B4-BE49-F238E27FC236}">
                <a16:creationId xmlns:a16="http://schemas.microsoft.com/office/drawing/2014/main" id="{8A348315-19FD-9F96-6EAD-37AD388C8CD6}"/>
              </a:ext>
            </a:extLst>
          </p:cNvPr>
          <p:cNvSpPr/>
          <p:nvPr/>
        </p:nvSpPr>
        <p:spPr>
          <a:xfrm>
            <a:off x="502922" y="5628275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Manager, Lam Research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14" name="Google Shape;25;p1">
            <a:extLst>
              <a:ext uri="{FF2B5EF4-FFF2-40B4-BE49-F238E27FC236}">
                <a16:creationId xmlns:a16="http://schemas.microsoft.com/office/drawing/2014/main" id="{5F00579E-DC29-C026-9AAC-E96F266715E1}"/>
              </a:ext>
            </a:extLst>
          </p:cNvPr>
          <p:cNvSpPr/>
          <p:nvPr/>
        </p:nvSpPr>
        <p:spPr>
          <a:xfrm>
            <a:off x="3394542" y="5200320"/>
            <a:ext cx="255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Nitin Agarwal</a:t>
            </a:r>
            <a:endParaRPr sz="3000" b="1">
              <a:solidFill>
                <a:schemeClr val="lt1"/>
              </a:solidFill>
            </a:endParaRPr>
          </a:p>
        </p:txBody>
      </p:sp>
      <p:sp>
        <p:nvSpPr>
          <p:cNvPr id="16" name="Google Shape;26;p1">
            <a:extLst>
              <a:ext uri="{FF2B5EF4-FFF2-40B4-BE49-F238E27FC236}">
                <a16:creationId xmlns:a16="http://schemas.microsoft.com/office/drawing/2014/main" id="{75B2A7F8-945D-1FFE-0DE5-42933FFE08C7}"/>
              </a:ext>
            </a:extLst>
          </p:cNvPr>
          <p:cNvSpPr/>
          <p:nvPr/>
        </p:nvSpPr>
        <p:spPr>
          <a:xfrm>
            <a:off x="3394550" y="5653100"/>
            <a:ext cx="370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Principal Data Scientist, Atlassian</a:t>
            </a:r>
            <a:endParaRPr sz="17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96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MODULES 4 ROADMAP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2108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39268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956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239268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Passive → Agentic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39268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What's new: ReAct loop, query rewriting, self-grading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830324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967484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0172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967484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Agentic RAG 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967484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LangGraph StateGraph: rewrite → retrieve → grade → generate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58540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695700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8388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3695700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Diagnostic Agent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95700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Socratic tutor: differential diagnosis through targeted questions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86756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423916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6604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5423916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Study Planner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23916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Stateful student memory + spaced-repetition plan generation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014972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152132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4820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7152132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Clinical Simulator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152132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Evolving patient scenarios — actions have real consequences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743188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8880348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13036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8880348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Orchestrator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880348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Intent routing: one LLM dispatches to the right specialist agent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471404" y="1623060"/>
            <a:ext cx="1618488" cy="3977640"/>
          </a:xfrm>
          <a:prstGeom prst="roundRect">
            <a:avLst>
              <a:gd name="adj" fmla="val 452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10608564" y="178765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7F5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C7D7F5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541252" y="178765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10608564" y="2372868"/>
            <a:ext cx="13441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mbria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0608564" y="2948940"/>
            <a:ext cx="1344168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Passive RAG vs Agentic RAG on the shared 60-Q MediLearn set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0B9C75FC-06F5-C102-89DE-CB8E6E1BF78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WORKSHOP ARC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Modules 4–5 in Context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5727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3 built a passive RAG pipeline. Modules 4–5 replace the fixed pipeline with a graph of reasoning agents, while keeping the same fine-tuned model and ChromaDB knowledge base as the foundation.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4864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7480" y="3127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92608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92608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Fine-Tune 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92608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4920" y="3127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530352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6454F"/>
          </a:solidFill>
          <a:ln w="12700" cap="flat" cmpd="sng">
            <a:solidFill>
              <a:srgbClr val="364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30352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RAG 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30352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2360" y="3127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768096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68096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M4–5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68096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← You are here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800" y="3127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10058400" y="27432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 w="12700" cap="flat" cmpd="sng">
            <a:solidFill>
              <a:srgbClr val="F4F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0058400" y="281635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058400" y="341985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 next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8640" y="40233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364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4251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1280160" y="422452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Module 3 — Passive RAG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22960" y="4617720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Fixed pipeline: query → embed → top-K retrieve → generate. No reasoning, no loops, no memory, no agent decisions. Same result every time.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263640" y="40233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7960" y="4251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6995160" y="422452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Modules 4–5 — Agentic RAG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537960" y="4617720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4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0E4FF"/>
                </a:solidFill>
                <a:latin typeface="Calibri"/>
                <a:ea typeface="Calibri"/>
                <a:cs typeface="Calibri"/>
                <a:sym typeface="Calibri"/>
              </a:rPr>
              <a:t>LangGraph graphs with typed state: agents rewrite queries, grade retrieval quality, loop until sufficient, remember student history, and simulate evolving clinical scenarios.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A7FDB94F-2A81-DADF-E71A-8D39357E201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1 · THE UPGRADE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Passive RAG → Agentic RAG: What Changed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" name="Google Shape;109;p4"/>
          <p:cNvGraphicFramePr/>
          <p:nvPr/>
        </p:nvGraphicFramePr>
        <p:xfrm>
          <a:off x="548640" y="1600200"/>
          <a:ext cx="11064225" cy="4389200"/>
        </p:xfrm>
        <a:graphic>
          <a:graphicData uri="http://schemas.openxmlformats.org/drawingml/2006/table">
            <a:tbl>
              <a:tblPr>
                <a:noFill/>
                <a:tableStyleId>{470D7ED3-6F9C-46DF-89C8-0D94FA097A42}</a:tableStyleId>
              </a:tblPr>
              <a:tblGrid>
                <a:gridCol w="246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 3 — Passive RAG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Modules 4–5 — Agentic RAG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handling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query embedded directly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rewrites query into retrieval-optimised medical terminology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 check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use top-K, no quality check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 grader checks sufficiency; loops if not good enough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Retry logic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— single pass only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loop: can retry up to MAX_ITER times with better query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Transparency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trace — black box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reasoning_trace logged at every node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Stateless — forgets each turn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Persistent student profiles across sessions (Study Planner)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Decision-making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— fixed graph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Intent detection, routing, and per-agent state machines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Simulation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supported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Evolving patient vitals that respond to student treatment decisions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0" name="Google Shape;110;p4"/>
          <p:cNvSpPr/>
          <p:nvPr/>
        </p:nvSpPr>
        <p:spPr>
          <a:xfrm>
            <a:off x="548640" y="6080760"/>
            <a:ext cx="11064240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77240" y="6080760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Core principle: agents don't just execute — they reason about whether their execution is good enough, then decide what to do next.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C7B84D79-6560-9648-75EF-BB4B158B30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2 · AGENTIC RAG 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The ReAct Loop: Reason → Act → Observe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" y="15727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Agentic RAG Core adds a self-correction loop around retrieval. If the graded documents aren't sufficient to answer the question, the agent rewrites the query and tries again — up to MAX_ITER = 2 times.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05840" y="2606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005840" y="267919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REWRITE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05840" y="302666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Optimise query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for medical retrieval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931920" y="2606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931920" y="267919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931920" y="302666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Top-K search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across ChromaDB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858000" y="2606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858000" y="267919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858000" y="302666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Are docs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sufficient?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858000" y="4069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858000" y="414223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LOOP BACK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858000" y="448970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Rewrite again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(≤ MAX_ITER)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784080" y="26060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784080" y="267919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784080" y="302666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0" y="297180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297180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1160" y="2971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9244716" y="3138637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YES →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818120" y="36118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NO ↓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931920" y="461772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← retry with rewritten query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50292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777240" y="5138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class AgenticRAGState(TypedDict):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77240" y="546811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6FA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C8E6FA"/>
                </a:solidFill>
                <a:latin typeface="Courier New"/>
                <a:ea typeface="Courier New"/>
                <a:cs typeface="Courier New"/>
                <a:sym typeface="Courier New"/>
              </a:rPr>
              <a:t>    original_query, rewritten_query, retrieved_docs, retrieval_sufficient, generation, iterations, reasoning_trace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77240" y="58338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B7BDC6"/>
                </a:solidFill>
                <a:latin typeface="Courier New"/>
                <a:ea typeface="Courier New"/>
                <a:cs typeface="Courier New"/>
                <a:sym typeface="Courier New"/>
              </a:rPr>
              <a:t>MAX_ITER = 2   ·   MIN_SIMILARITY = 0.45   ·   Entry point: node_rewrite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F33EEC5-D7FE-1AE3-68B9-DAA1AC20252B}"/>
              </a:ext>
            </a:extLst>
          </p:cNvPr>
          <p:cNvCxnSpPr>
            <a:stCxn id="131" idx="1"/>
            <a:endCxn id="122" idx="2"/>
          </p:cNvCxnSpPr>
          <p:nvPr/>
        </p:nvCxnSpPr>
        <p:spPr>
          <a:xfrm rot="10800000">
            <a:off x="2148840" y="3520440"/>
            <a:ext cx="4709160" cy="1005840"/>
          </a:xfrm>
          <a:prstGeom prst="bentConnector2">
            <a:avLst/>
          </a:prstGeom>
          <a:ln w="19050"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45C92EC6-81D3-A61B-4E92-4146E47658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2 · AGENTIC RAG 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LangGraph StateGraph — How It's Wired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15727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LangGraph represents each reasoning step as a graph node. Edges can be conditional — the grade node routes to 'generate' if sufficient, or back to 'rewrite' if not. Every node receives and returns the full typed state.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2423160"/>
            <a:ext cx="6858000" cy="3200400"/>
          </a:xfrm>
          <a:prstGeom prst="roundRect">
            <a:avLst>
              <a:gd name="adj" fmla="val 1714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777240" y="2578608"/>
            <a:ext cx="640080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 = StateGraph(AgenticRAGState)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g.add_node('rewrite',  node_rewrite)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g.add_node('retrieve', node_retrieve)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g.add_node('grade',    node_grade)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g.add_node('generate', node_generate)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g.set_entry_point('rewrite')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g.add_edge('rewrite',  'retrieve')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g.add_edge('retrieve', 'grade')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g.add_conditional_edges('grade', route_after_grade,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  {'generate': 'generate', 'rewrite': 'rewrite'})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g.add_edge('generate', END)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680960" y="242316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845552" y="2478024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node_rewrite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845552" y="2770632"/>
            <a:ext cx="3831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Calls slm_generate() to produce a retrieval-optimised reformulation of the original query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680960" y="324612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845552" y="3300984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node_retrieve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845552" y="3593592"/>
            <a:ext cx="3831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Calls retrieve() across all 3 ChromaDB collections; stores docs + similarity scores in state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680960" y="406908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845552" y="4123944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node_grade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845552" y="4416552"/>
            <a:ext cx="3831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Checks if avg similarity ≥ MIN_SIMILARITY AND iterations &lt; MAX_ITER → routes to generate or loop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680960" y="4892040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7845552" y="4946904"/>
            <a:ext cx="38313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node_generate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845552" y="5239512"/>
            <a:ext cx="3831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Builds augmented prompt from retrieved docs + rewritten query → final grounded response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603F6FFE-3622-661C-BDFD-0C0BA3ACD8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3 · AGENT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Diagnostic Reasoner — Socratic Clinical Tutor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1572768"/>
            <a:ext cx="107899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Instead of revealing the diagnosis directly, the Diagnostic Reasoner teaches clinical reasoning: it builds a differential, then asks one targeted Socratic question per turn to help the student narrow it.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0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36454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57200" y="27157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320040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2576" y="3099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2542032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2542032" y="27157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633472" y="320040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 key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clinical features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7408" y="3099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4626864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563E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626864" y="27157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_cases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18304" y="320040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Find similar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real cases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240" y="3099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6711696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711696" y="27157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build_diff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erential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803136" y="320040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Ranked differential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diagnosis list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7072" y="3099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796528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8796528" y="27157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socratic_q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887968" y="320040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Ask ONE targeted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arrowing question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1904" y="3099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10881360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16A34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0881360" y="27157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resolved?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0972800" y="3200400"/>
            <a:ext cx="1645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Loop 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reveal Dx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737360" y="40690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not resolved: ←─────────────────────────── loop back to socratic_q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77240" y="46817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DiagnosticState fields: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77240" y="49834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conversation_history   ·   patient_presentation   ·   differential_diagnosis   ·   similar_cases   ·   questions_asked   ·   reasoning_chain   ·   turn   ·   case_resolved   ·   final_diagnosis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77240" y="53492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DiagnosticSession class manages multi-turn dialogue — each student reply re-enters the graph with updated state. The session is fully inspectable at every turn.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F8A0E26E-9FD7-2B5C-A939-B4A1F94361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4 · AGENT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Study Planner — Personalised Learning with Persistent Memory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1572768"/>
            <a:ext cx="107899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Study Planner is the only stateful agent across sessions — it persists student performance data in STUDENT_DB and tailors a spaced-repetition plan to each learner's weak topics.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246888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777240" y="2633472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Graph: START → analyse_gaps → retrieve_resources → generate_plan → END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77240" y="3273552"/>
            <a:ext cx="4754880" cy="896112"/>
          </a:xfrm>
          <a:prstGeom prst="roundRect">
            <a:avLst>
              <a:gd name="adj" fmla="val 612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60120" y="332841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analyse_gaps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60120" y="3639312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Read student profile → identify weak_topics (score &lt; 0.6) and mastered_topics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77240" y="4242816"/>
            <a:ext cx="4754880" cy="896112"/>
          </a:xfrm>
          <a:prstGeom prst="roundRect">
            <a:avLst>
              <a:gd name="adj" fmla="val 612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960120" y="429768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retrieve_resources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960120" y="4608576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For each weak topic, retrieve top-3 guidelines + knowledge chunks from ChromaDB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77240" y="5212080"/>
            <a:ext cx="4754880" cy="896112"/>
          </a:xfrm>
          <a:prstGeom prst="roundRect">
            <a:avLst>
              <a:gd name="adj" fmla="val 612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960120" y="5266944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generate_plan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60120" y="5577840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SLM writes a personalised spaced-repetition study schedule with rationale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080760" y="246888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309360" y="263347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Student profile structure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263640" y="3035808"/>
            <a:ext cx="5257800" cy="1234440"/>
          </a:xfrm>
          <a:prstGeom prst="roundRect">
            <a:avLst>
              <a:gd name="adj" fmla="val 3704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446520" y="3127248"/>
            <a:ext cx="4892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{ id, name, topics_attempted: {topic: score},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mastered_topics: [], weak_topics: [],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study_plan: [], last_updated 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080760" y="4572000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6217920" y="4572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Persistent memory: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641080" y="45720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STUDENT_DB survives across Colab cells — the planner remembers past sessions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080760" y="5148072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217920" y="514807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Adaptive threshold: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641080" y="51480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Topics scored &lt; 0.6 are classified as weak; ≥ 0.85 are mastered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080760" y="5724144"/>
            <a:ext cx="557784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217920" y="5724144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RAG-grounded plans: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641080" y="572414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Resources retrieved from ChromaDB — not hallucinated study suggestions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76694790-8330-B063-2623-B71714AE88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5 · AGENT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Clinical Simulator — Actions Have Real Consequences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48640" y="1572768"/>
            <a:ext cx="107899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stateful patient simulation where student decisions alter the patient's physiology. Give IV fluids → BP rises. Give antibiotics → fever falls. Miss the vasopressor → perfusion deteriorates.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48640" y="2468880"/>
            <a:ext cx="4297680" cy="3703320"/>
          </a:xfrm>
          <a:prstGeom prst="roundRect">
            <a:avLst>
              <a:gd name="adj" fmla="val 1975"/>
            </a:avLst>
          </a:prstGeom>
          <a:solidFill>
            <a:srgbClr val="1C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672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1325880" y="26791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Patient: James W., 54M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04672" y="31089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Septic Shock (Urosepsis)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04672" y="352044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920240" y="35204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128 bpm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04672" y="397764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BP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920240" y="39776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88/52 mmHg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04672" y="443484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RR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920240" y="44348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28/min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04672" y="489204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Temp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920240" y="48920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40.0 °C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804672" y="534924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SpO2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920240" y="53492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93 %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120640" y="2468880"/>
            <a:ext cx="6537960" cy="1371600"/>
          </a:xfrm>
          <a:prstGeom prst="roundRect">
            <a:avLst>
              <a:gd name="adj" fmla="val 5333"/>
            </a:avLst>
          </a:prstGeom>
          <a:solidFill>
            <a:srgbClr val="F4F5F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5349240" y="2633472"/>
            <a:ext cx="6080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Graph: student_action → retrieve_outcomes → update_patient → teach_feedback → [≥4 turns: summarise → END]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349240" y="3337560"/>
            <a:ext cx="6080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SimulationSession tracks patient state across turns — vitals update in real 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9"/>
          <p:cNvGraphicFramePr/>
          <p:nvPr/>
        </p:nvGraphicFramePr>
        <p:xfrm>
          <a:off x="5120640" y="3977640"/>
          <a:ext cx="6537975" cy="2148875"/>
        </p:xfrm>
        <a:graphic>
          <a:graphicData uri="http://schemas.openxmlformats.org/drawingml/2006/table">
            <a:tbl>
              <a:tblPr>
                <a:noFill/>
                <a:tableStyleId>{470D7ED3-6F9C-46DF-89C8-0D94FA097A42}</a:tableStyleId>
              </a:tblPr>
              <a:tblGrid>
                <a:gridCol w="34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 Action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 Consequence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Administer IV fluids (30 mL/kg)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BP rises 88/52 → 102/68, HR drops 128 → 112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broad-spectrum antibiotics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Fever begins trending down; WBC markers improve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Vasopressors for refractory shock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Perfusion restored; mean arterial pressure normalises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Delay treatment &gt; 1 hour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 dysfunction score worsens; lactate rises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2" name="Google Shape;272;p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EDC73A0B-6731-40C4-3EED-3DAB11F328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PART 6 · ORCHESTRATOR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Section 8: The Multi-Agent Router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48640" y="1572768"/>
            <a:ext cx="107899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The Orchestrator detects the student's intent from their message and routes to the correct specialist agent. The same SLM handles all routing decisions — no separate classifier model.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10"/>
          <p:cNvGraphicFramePr/>
          <p:nvPr/>
        </p:nvGraphicFramePr>
        <p:xfrm>
          <a:off x="548640" y="2423160"/>
          <a:ext cx="8686800" cy="2286000"/>
        </p:xfrm>
        <a:graphic>
          <a:graphicData uri="http://schemas.openxmlformats.org/drawingml/2006/table">
            <a:tbl>
              <a:tblPr>
                <a:noFill/>
                <a:tableStyleId>{470D7ED3-6F9C-46DF-89C8-0D94FA097A42}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Intent Detected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Trigger Keywords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Routed To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diagnose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diagnose, differential, presenting with, year old with, rule out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Diagnostic Reasoner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simulate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simulate, practice case, manage this, clinical scenario, what would you do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Simulator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 plan, learning plan, weak in, help me study, where should I focus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 Planner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everything else — general medical Q&amp;A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Agentic RAG Core</a:t>
                      </a:r>
                      <a:endParaRPr sz="115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4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3" name="Google Shape;283;p10"/>
          <p:cNvSpPr/>
          <p:nvPr/>
        </p:nvSpPr>
        <p:spPr>
          <a:xfrm>
            <a:off x="9400032" y="242316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9537192" y="2468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Pattern matching first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537192" y="27706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INTENT_PATTERNS dict checked before LLM call — fast, deterministic for common phrases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9400032" y="320040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9537192" y="3246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LLM as fallback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9537192" y="35478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Ambiguous messages are classified by the SLM: 'Classify this as one of: diagnose, simulate, study, rag'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400032" y="3977640"/>
            <a:ext cx="256032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9537192" y="4023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Shared ChromaDB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9537192" y="43251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All four agents read from the same ChromaDB collections — no per-agent knowledge silos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21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777240" y="50292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Courier New"/>
              <a:buNone/>
            </a:pPr>
            <a:r>
              <a:rPr lang="en-US" sz="115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FULL SYSTEM  (Orchestrator → route → agent → LangGraph → ChromaDB + SLM)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77240" y="537667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Student message  →  Orchestrator (intent classify)  →  [Diagnostic | Simulator | Planner | Agentic RAG]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777240" y="5715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↕  TypedDict state   ↕  ChromaDB retrieve   ↕  SLM generate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86702A6E-0FBB-24EB-E3C1-0960323E8F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33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958c2951_0_0"/>
          <p:cNvSpPr/>
          <p:nvPr/>
        </p:nvSpPr>
        <p:spPr>
          <a:xfrm>
            <a:off x="0" y="3153475"/>
            <a:ext cx="12192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Hands-On time!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E3F251A6-B440-F858-4405-0AD62C1794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NOTEBOOK REFERENCE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Modules 4–5 — Section Map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48640" y="1691640"/>
            <a:ext cx="11064240" cy="3931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685800" y="169164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1828800" y="169164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Setup &amp; Installation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577840" y="169164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LangGraph, langchain-community, scikit-learn + standard stack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48640" y="2103120"/>
            <a:ext cx="110642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685800" y="210312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828800" y="210312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Load Fine-Tuned SLM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577840" y="210312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 M2 merged model from Drive; hard-fail if missing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48640" y="2514600"/>
            <a:ext cx="11064240" cy="3931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685800" y="251460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§2.5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828800" y="251460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MediLearn Eval Set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577840" y="251460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 shared 60-Q JSON — same as M1, M2, M3, M6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48640" y="2926080"/>
            <a:ext cx="110642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685800" y="292608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828800" y="292608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Knowledge Base (ChromaDB)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577840" y="292608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Rebuild 3 collections: cases, guidelines, knowledge synthesis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48640" y="3337560"/>
            <a:ext cx="11064240" cy="3931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685800" y="333756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828800" y="333756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Agentic RAG 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577840" y="333756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ReAct loop — rewrite → retrieve → grade → generate LangGraph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48640" y="3749040"/>
            <a:ext cx="110642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85800" y="374904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828800" y="374904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Diagnostic Reasoner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577840" y="374904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Socratic tutor agent with DiagnosticSession class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48640" y="4160520"/>
            <a:ext cx="11064240" cy="3931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685800" y="416052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828800" y="416052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Study Planner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577840" y="416052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Persistent STUDENT_DB + adaptive spaced-repetition graph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48640" y="4572000"/>
            <a:ext cx="110642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685800" y="457200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828800" y="457200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Clinical Simulator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577840" y="457200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Stateful sepsis patient — vitals respond to student actions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48640" y="4983480"/>
            <a:ext cx="11064240" cy="3931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685800" y="498348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828800" y="498348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5577840" y="498348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Intent routing: INTENT_PATTERNS + SLM fallback classifier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48640" y="5394960"/>
            <a:ext cx="11064240" cy="393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85800" y="539496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§9 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828800" y="539496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Comparative Evaluation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577840" y="539496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60-Q Passive RAG vs Agentic RAG + 5-query spot-check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48640" y="5806440"/>
            <a:ext cx="11064240" cy="3931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685800" y="580644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828800" y="580644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Educational Discussion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577840" y="580644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changed, why it matters, design trade-offs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48640" y="6217920"/>
            <a:ext cx="110642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685800" y="6217920"/>
            <a:ext cx="100584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§11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828800" y="6217920"/>
            <a:ext cx="36576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Save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577840" y="6217920"/>
            <a:ext cx="58978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Write eval JSONs to Drive/eval/results/ for M6 comparison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CA7FA21B-DD3A-7FE6-4559-F1EAF0BC85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48640" y="71323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121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822960" y="16916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Agents reason, not just retrieve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663440" y="169164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The ReAct loop adds self-assessment — agents can recognise when retrieval fails and fix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548640" y="26060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822960" y="26060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Query rewriting is high-ROI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663440" y="260604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Translating student language to clinical terminology is the cheapest way to lift retrieval quality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48640" y="35204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822960" y="35204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Typed state = inspectable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663440" y="352044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TypedDict state makes every agent decision auditable — essential for a medical teaching 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48640" y="44348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822960" y="44348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Specialisation beats generalisation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663440" y="443484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Three focused agents (tutor, planner, simulator) outperform one general-purpose RAG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822960" y="53492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Cambria"/>
                <a:ea typeface="Cambria"/>
                <a:cs typeface="Cambria"/>
                <a:sym typeface="Cambria"/>
              </a:rPr>
              <a:t>Memory enables personalisation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663440" y="534924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Stateful student profiles let the system adapt — this is what separates a tool from a tutor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40EDDA63-83BF-3D2B-3CFB-6CD543E39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640080" y="2194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Up Next: Module 6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40080" y="2743200"/>
            <a:ext cx="100584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300"/>
              <a:buFont typeface="Cambria"/>
              <a:buNone/>
            </a:pPr>
            <a:r>
              <a:rPr lang="en-US" sz="3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Edge AI &amp; TinyML: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300"/>
              <a:buFont typeface="Cambria"/>
              <a:buNone/>
            </a:pPr>
            <a:r>
              <a:rPr lang="en-US" sz="3300" b="1" i="0" u="none" strike="noStrike" cap="none">
                <a:solidFill>
                  <a:srgbClr val="F2F2F2"/>
                </a:solidFill>
                <a:latin typeface="Cambria"/>
                <a:ea typeface="Cambria"/>
                <a:cs typeface="Cambria"/>
                <a:sym typeface="Cambria"/>
              </a:rPr>
              <a:t>Deploying SLMs Beyond the Cloud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40080" y="4343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We'll export the fine-tuned model to GGUF format using llama.cpp, run CPU-only inference, profile latency and memory, and simulate a production edge deployment — no GPU required.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640080" y="553212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40080" y="553212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M1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2743200" y="553212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2743200" y="553212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M2 Fine-Tune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846320" y="553212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4846320" y="553212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M3 RAG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949440" y="553212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6949440" y="553212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M4–5 Agentic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9052560" y="553212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2D3440"/>
          </a:solidFill>
          <a:ln w="12700" cap="flat" cmpd="sng">
            <a:solidFill>
              <a:srgbClr val="3D4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9052560" y="5532120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M6 Edge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MODULE 4–5 · MULTI-AGENT SYSTEMS &amp; AGENTIC 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BDC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B7BDC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89;p4" descr="A red and blue logo&#10;&#10;AI-generated content may be incorrect.">
            <a:extLst>
              <a:ext uri="{FF2B5EF4-FFF2-40B4-BE49-F238E27FC236}">
                <a16:creationId xmlns:a16="http://schemas.microsoft.com/office/drawing/2014/main" id="{2904F70E-DAD0-7163-30CB-BC00C52526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32408" y="111956"/>
            <a:ext cx="2605548" cy="49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1977</Words>
  <Application>Microsoft Office PowerPoint</Application>
  <PresentationFormat>Widescreen</PresentationFormat>
  <Paragraphs>322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Nitin Agarwal</cp:lastModifiedBy>
  <cp:revision>1</cp:revision>
  <dcterms:created xsi:type="dcterms:W3CDTF">2026-07-06T11:48:41Z</dcterms:created>
  <dcterms:modified xsi:type="dcterms:W3CDTF">2026-08-07T18:50:22Z</dcterms:modified>
</cp:coreProperties>
</file>