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75" r:id="rId2"/>
    <p:sldId id="257" r:id="rId3"/>
    <p:sldId id="258" r:id="rId4"/>
    <p:sldId id="259" r:id="rId5"/>
    <p:sldId id="273" r:id="rId6"/>
    <p:sldId id="274" r:id="rId7"/>
    <p:sldId id="262" r:id="rId8"/>
    <p:sldId id="261" r:id="rId9"/>
    <p:sldId id="265" r:id="rId10"/>
    <p:sldId id="266" r:id="rId11"/>
    <p:sldId id="267" r:id="rId12"/>
    <p:sldId id="268" r:id="rId13"/>
    <p:sldId id="269" r:id="rId14"/>
    <p:sldId id="272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T3lJPhwhOm3/Cqdmmmiho3Xc9L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tin Agarwal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02A333-22EE-40EC-A880-01AADD572227}">
  <a:tblStyle styleId="{8902A333-22EE-40EC-A880-01AADD57222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 (billions)</c:v>
                </c:pt>
              </c:strCache>
            </c:strRef>
          </c:tx>
          <c:spPr>
            <a:solidFill>
              <a:srgbClr val="12B8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55-4777-AB3C-348775A7383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655-4777-AB3C-348775A7383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655-4777-AB3C-348775A7383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655-4777-AB3C-348775A7383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655-4777-AB3C-348775A7383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655-4777-AB3C-348775A7383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4655-4777-AB3C-348775A7383C}"/>
              </c:ext>
            </c:extLst>
          </c:dPt>
          <c:dPt>
            <c:idx val="7"/>
            <c:invertIfNegative val="0"/>
            <c:bubble3D val="0"/>
            <c:spPr>
              <a:solidFill>
                <a:srgbClr val="1632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655-4777-AB3C-348775A7383C}"/>
              </c:ext>
            </c:extLst>
          </c:dPt>
          <c:dLbls>
            <c:numFmt formatCode="#,##0.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1465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Hymba</c:v>
                </c:pt>
                <c:pt idx="1">
                  <c:v>SmolLM2</c:v>
                </c:pt>
                <c:pt idx="2">
                  <c:v>Phi-2</c:v>
                </c:pt>
                <c:pt idx="3">
                  <c:v>R1-Distill-Qwen</c:v>
                </c:pt>
                <c:pt idx="4">
                  <c:v>RETRO</c:v>
                </c:pt>
                <c:pt idx="5">
                  <c:v>xLAM-2</c:v>
                </c:pt>
                <c:pt idx="6">
                  <c:v>Nemotron-H</c:v>
                </c:pt>
                <c:pt idx="7">
                  <c:v>GPT-3 (reference)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</c:v>
                </c:pt>
                <c:pt idx="1">
                  <c:v>1.7</c:v>
                </c:pt>
                <c:pt idx="2">
                  <c:v>2.7</c:v>
                </c:pt>
                <c:pt idx="3">
                  <c:v>7</c:v>
                </c:pt>
                <c:pt idx="4">
                  <c:v>7.5</c:v>
                </c:pt>
                <c:pt idx="5">
                  <c:v>8</c:v>
                </c:pt>
                <c:pt idx="6">
                  <c:v>9</c:v>
                </c:pt>
                <c:pt idx="7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655-4777-AB3C-348775A738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C1E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b"/>
        <c:majorGridlines>
          <c:spPr>
            <a:ln w="12700" cap="flat">
              <a:solidFill>
                <a:srgbClr val="E3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2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60 questions · 6 categories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46D-493E-8483-299DB85736F1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6D-493E-8483-299DB85736F1}"/>
              </c:ext>
            </c:extLst>
          </c:dPt>
          <c:dPt>
            <c:idx val="2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6D-493E-8483-299DB85736F1}"/>
              </c:ext>
            </c:extLst>
          </c:dPt>
          <c:dPt>
            <c:idx val="3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46D-493E-8483-299DB85736F1}"/>
              </c:ext>
            </c:extLst>
          </c:dPt>
          <c:dPt>
            <c:idx val="4"/>
            <c:bubble3D val="0"/>
            <c:spPr>
              <a:solidFill>
                <a:srgbClr val="1E3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46D-493E-8483-299DB85736F1}"/>
              </c:ext>
            </c:extLst>
          </c:dPt>
          <c:dPt>
            <c:idx val="5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46D-493E-8483-299DB85736F1}"/>
              </c:ext>
            </c:extLst>
          </c:dPt>
          <c:cat>
            <c:strRef>
              <c:f>Sheet1!$A$2:$A$7</c:f>
              <c:strCache>
                <c:ptCount val="6"/>
                <c:pt idx="0">
                  <c:v>Cardiology</c:v>
                </c:pt>
                <c:pt idx="1">
                  <c:v>Neurology</c:v>
                </c:pt>
                <c:pt idx="2">
                  <c:v>Respiratory</c:v>
                </c:pt>
                <c:pt idx="3">
                  <c:v>Endocrine</c:v>
                </c:pt>
                <c:pt idx="4">
                  <c:v>Critical Care</c:v>
                </c:pt>
                <c:pt idx="5">
                  <c:v>Pharmacology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46D-493E-8483-299DB8573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 to land: knowledge lives in the weights, and everything else has to be supplied through the context window. Hold that thought until the RAG section.</a:t>
            </a:r>
            <a:endParaRPr/>
          </a:p>
        </p:txBody>
      </p:sp>
      <p:sp>
        <p:nvSpPr>
          <p:cNvPr id="43" name="Google Shape;4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NVIDIA's working definitions WD1/WD2. The authors deliberately avoid a parameter number so the definition stays timeless.</a:t>
            </a:r>
            <a:endParaRPr/>
          </a:p>
        </p:txBody>
      </p:sp>
      <p:sp>
        <p:nvSpPr>
          <p:cNvPr id="93" name="Google Shape;9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RETRO-7.5B is the interesting one: it reached GPT-3-comparable language modelling with 25x fewer parameters by retrieving from an external database. Foreshadows the RAG section.</a:t>
            </a:r>
            <a:endParaRPr/>
          </a:p>
        </p:txBody>
      </p:sp>
      <p:sp>
        <p:nvSpPr>
          <p:cNvPr id="116" name="Google Shape;11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out that task specialisation is the one teams under-use, and it is the cheapest lever of the four.</a:t>
            </a:r>
            <a:endParaRPr/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Deliberately placed before the pro-SLM argument so the session doesn't read as advocacy. AV1/CA1/CA2 from the paper, plus rebuttals A8-A11.</a:t>
            </a:r>
            <a:endParaRPr/>
          </a:p>
        </p:txBody>
      </p:sp>
      <p:sp>
        <p:nvSpPr>
          <p:cNvPr id="171" name="Google Shape;171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5bd0c4b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f5bd0c4bf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f5bd0c4bf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>Knowledge Distillation, in Plain Terms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Imagine a brilliant but slow professor (the </a:t>
            </a: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teacher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 huge LLM) and a bright student (the </a:t>
            </a: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the small model). Instead of just handing the student a textbook and a final answer key, the professor lets the student watch </a:t>
            </a: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they think through every problem.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Why this beats "just training on text":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Normal training: the model only sees the </a:t>
            </a: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correct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next word, as a hard label ("the answer is 'cat'").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Distillation: the student sees the teacher's full </a:t>
            </a: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probability distribution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over possible next words — e.g. "cat" 70%, "dog" 15%, "car" 5%, everything else split among the rest. This is often called learning from </a:t>
            </a: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"soft labels."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That soft distribution is rich with information: it tells the student not just the right answer, but </a:t>
            </a: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how confident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 teacher was, and </a:t>
            </a: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what else was plausible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A model trained this way tends to generalize better and pick up nuances of reasoning that plain word-prediction wouldn't reveal, because it's mimicking the teacher's internal "judgment," not just memorizing outputs.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In practice, distillation can happen at different levels: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Output-level (logit) distillation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student matches the teacher's final output probabilities.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Data distillation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the teacher </a:t>
            </a: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generates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huge amounts of synthetic training data (explanations, Q&amp;A, rewrites), and the student is trained normally on that teacher-generated corpus. This is actually the more common approach for modern SLMs — using an LLM as a "data factory."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Feature/representation distillation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student is nudged to match the teacher's internal hidden representations at certain layers, not just the final output.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The upshot: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 well-distilled small model can behave surprisingly close to its much bigger teacher on the tasks it was distilled for, despite having a fraction of the parameters — because it's inheriting compressed knowledge and "judgment," not learning from scratch on raw noisy internet text alone.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>Real Example: SmolLM2-135M-Instruct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This is a genuinely tiny model (135M params) from HuggingFace, designed to run on a phone or laptop CPU. Here's its actual architecture: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High-level facts: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Part of the SmolLM2 family, available in 135M, 360M, and 1.7B sizes, built to be lightweight enough to run on-device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135M model was trained on 2 trillion tokens using FineWeb-Edu, DCLM, and The Stack datasets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instruct version was created via supervised fine-tuning (SFT) then Direct Preference Optimization (DPO) using UltraFeedback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Concrete architecture (it's a Llama-3-style decoder):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Hidden size 576, 9 attention heads, 3 key-value heads, head dim 64 (30 decoder layers)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Intermediate/FFN size 1536, vocab size 49152, max position embeddings 2048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Each decoder layer, in PyTorch terms: q_proj (576→576), k_proj (576→192), v_proj (576→192), o_proj (576→576), followed by an MLP with gate_proj and up_proj (576→1536) and down_proj (1536→576) using SiLU activation, with RMSNorm before attention and before the MLP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Why this design matters: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Grouped-Query Attention (GQA)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notice 9 query heads but only 3 key/value heads. Multiple query heads </a:t>
            </a: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share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 same K/V heads. This shrinks the KV-cache (the memory needed during generation) by 3x compared to full multi-head attention, which matters enormously on constrained hardware.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"Deep-thin" over "shallow-wide"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this 135M model uses 30 layers with a relatively narrow hidden size of 576, rather than the older GPT-2-style approach of fewer, wider layers. Research has found that for small parameter budgets, going </a:t>
            </a: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deep and narrow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tends to give better quality than </a:t>
            </a: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shallow and wide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SwiGLU-style MLP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(gate_proj + up_proj + SiLU) — this gated activation, borrowed straight from Llama, tends to outperform a plain ReLU MLP at the same parameter count.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Tiny footprint, real capability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at 135M parameters the model needs only about 270MB of storage and delivers sub-100ms inference, while still supporting instruction-following, text rewriting, summarization, and even basic function calling.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How distillation fits in for SmolLM2 specifically: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 training recipe centers less on classic teacher-logit distillation and more on the "data distillation" style — heavy use of curated/synthetic, LLM-filtered data (FineWeb-Edu is itself filtered by a larger model for "educational quality") so that even a 135M model absorbs high-signal text rather than raw noisy web crawl. That's a big part of why SmolLM2-135M punches above its parameter count compared to older tiny models trained on unfiltered data.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Want me to walk through what happens if you tried to </a:t>
            </a: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distill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 big Llama-3-8B down into something SmolLM2-135M-shaped — i.e., the actual training pipeline you'd run?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sanathrajnaraya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ircle with a light in the middle&#10;&#10;AI-generated content may be incorrect.">
            <a:extLst>
              <a:ext uri="{FF2B5EF4-FFF2-40B4-BE49-F238E27FC236}">
                <a16:creationId xmlns:a16="http://schemas.microsoft.com/office/drawing/2014/main" id="{7D8BAA25-BEF8-FD15-BDCC-5606CE45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Shape 0">
            <a:extLst>
              <a:ext uri="{FF2B5EF4-FFF2-40B4-BE49-F238E27FC236}">
                <a16:creationId xmlns:a16="http://schemas.microsoft.com/office/drawing/2014/main" id="{B3424937-3A67-470E-B8E8-14C7E5AF39B2}"/>
              </a:ext>
            </a:extLst>
          </p:cNvPr>
          <p:cNvSpPr/>
          <p:nvPr/>
        </p:nvSpPr>
        <p:spPr>
          <a:xfrm>
            <a:off x="592920" y="1880520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1A1330"/>
          </a:solidFill>
          <a:ln w="15875">
            <a:solidFill>
              <a:srgbClr val="667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BF6E60B6-F86F-C13F-3C78-74B2BF51C6AF}"/>
              </a:ext>
            </a:extLst>
          </p:cNvPr>
          <p:cNvSpPr/>
          <p:nvPr/>
        </p:nvSpPr>
        <p:spPr>
          <a:xfrm>
            <a:off x="589320" y="1882920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>
                <a:solidFill>
                  <a:srgbClr val="667799"/>
                </a:solidFill>
                <a:latin typeface="Arial"/>
                <a:cs typeface="Arial"/>
              </a:rPr>
              <a:t>WORKSHOP</a:t>
            </a:r>
            <a:endParaRPr lang="en-US" sz="1150" b="1" kern="0" spc="200" dirty="0">
              <a:solidFill>
                <a:srgbClr val="1A8754"/>
              </a:solidFill>
              <a:latin typeface="Arial"/>
              <a:cs typeface="Arial"/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D1E8A9F6-C405-0EEE-E646-0C9F1DDE45B2}"/>
              </a:ext>
            </a:extLst>
          </p:cNvPr>
          <p:cNvSpPr/>
          <p:nvPr/>
        </p:nvSpPr>
        <p:spPr>
          <a:xfrm>
            <a:off x="502920" y="26060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05000"/>
              </a:lnSpc>
              <a:buClr>
                <a:srgbClr val="F2F2F2"/>
              </a:buClr>
              <a:buSzPts val="4400"/>
            </a:pPr>
            <a:r>
              <a:rPr lang="en-US" sz="3200" b="1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Introduction to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05000"/>
              </a:lnSpc>
              <a:buClr>
                <a:srgbClr val="F2F2F2"/>
              </a:buClr>
              <a:buSzPts val="4400"/>
            </a:pPr>
            <a:r>
              <a:rPr lang="en-US" sz="3200" b="1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Small Language Models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15FB6A1C-D9F3-30D2-8F5F-942183A996E9}"/>
              </a:ext>
            </a:extLst>
          </p:cNvPr>
          <p:cNvSpPr/>
          <p:nvPr/>
        </p:nvSpPr>
        <p:spPr>
          <a:xfrm>
            <a:off x="512064" y="4160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i="1">
              <a:solidFill>
                <a:srgbClr val="1FB6A6"/>
              </a:solidFill>
              <a:ea typeface="Calibri"/>
              <a:cs typeface="Calibri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326E244-8E2E-C4F5-23FF-FF150AEE2A91}"/>
              </a:ext>
            </a:extLst>
          </p:cNvPr>
          <p:cNvSpPr/>
          <p:nvPr/>
        </p:nvSpPr>
        <p:spPr>
          <a:xfrm>
            <a:off x="512064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SPEAKER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2CAA69A2-CCC7-87BC-BBE4-64415E33A69E}"/>
              </a:ext>
            </a:extLst>
          </p:cNvPr>
          <p:cNvSpPr/>
          <p:nvPr/>
        </p:nvSpPr>
        <p:spPr>
          <a:xfrm>
            <a:off x="506809" y="5036978"/>
            <a:ext cx="1064698" cy="30638"/>
          </a:xfrm>
          <a:prstGeom prst="rect">
            <a:avLst/>
          </a:prstGeom>
          <a:solidFill>
            <a:srgbClr val="667799"/>
          </a:solidFill>
          <a:ln>
            <a:solidFill>
              <a:srgbClr val="6677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B626BBB6-3D51-C7BD-9970-6E777EB41769}"/>
              </a:ext>
            </a:extLst>
          </p:cNvPr>
          <p:cNvSpPr/>
          <p:nvPr/>
        </p:nvSpPr>
        <p:spPr>
          <a:xfrm>
            <a:off x="512064" y="5687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>
              <a:solidFill>
                <a:srgbClr val="AEB6CF"/>
              </a:solidFill>
              <a:ea typeface="Calibri"/>
              <a:cs typeface="Calibri"/>
            </a:endParaRPr>
          </a:p>
        </p:txBody>
      </p:sp>
      <p:sp>
        <p:nvSpPr>
          <p:cNvPr id="46" name="Text Footer Date">
            <a:extLst>
              <a:ext uri="{FF2B5EF4-FFF2-40B4-BE49-F238E27FC236}">
                <a16:creationId xmlns:a16="http://schemas.microsoft.com/office/drawing/2014/main" id="{3FF3F551-4B54-D322-12B0-9564AAEF34E7}"/>
              </a:ext>
            </a:extLst>
          </p:cNvPr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>
              <a:solidFill>
                <a:srgbClr val="9AA4C0"/>
              </a:solidFill>
              <a:ea typeface="Calibri"/>
              <a:cs typeface="Calibri"/>
            </a:endParaRPr>
          </a:p>
        </p:txBody>
      </p:sp>
      <p:sp>
        <p:nvSpPr>
          <p:cNvPr id="48" name="Text Footer HxAI">
            <a:extLst>
              <a:ext uri="{FF2B5EF4-FFF2-40B4-BE49-F238E27FC236}">
                <a16:creationId xmlns:a16="http://schemas.microsoft.com/office/drawing/2014/main" id="{6C451574-F5BB-9285-BAF6-2B75B583628A}"/>
              </a:ext>
            </a:extLst>
          </p:cNvPr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>
              <a:solidFill>
                <a:srgbClr val="9AA4C0"/>
              </a:solidFill>
              <a:latin typeface="Arial"/>
              <a:cs typeface="Arial"/>
            </a:endParaRPr>
          </a:p>
        </p:txBody>
      </p:sp>
      <p:pic>
        <p:nvPicPr>
          <p:cNvPr id="50" name="Picture 49" descr="A black and white logo  AI-generated content may be incorrect.">
            <a:extLst>
              <a:ext uri="{FF2B5EF4-FFF2-40B4-BE49-F238E27FC236}">
                <a16:creationId xmlns:a16="http://schemas.microsoft.com/office/drawing/2014/main" id="{9E43B2A8-462F-4937-FAA5-C6E77C82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13" y="226513"/>
            <a:ext cx="3196169" cy="57782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2D9759D-184D-D9B4-F3AC-BBF121B52A94}"/>
              </a:ext>
            </a:extLst>
          </p:cNvPr>
          <p:cNvSpPr txBox="1"/>
          <p:nvPr/>
        </p:nvSpPr>
        <p:spPr>
          <a:xfrm>
            <a:off x="33300" y="0"/>
            <a:ext cx="399605" cy="5994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Google Shape;18;p1">
            <a:extLst>
              <a:ext uri="{FF2B5EF4-FFF2-40B4-BE49-F238E27FC236}">
                <a16:creationId xmlns:a16="http://schemas.microsoft.com/office/drawing/2014/main" id="{F8D6EBA5-68D2-B2EE-F5E4-6BF9DDB053F5}"/>
              </a:ext>
            </a:extLst>
          </p:cNvPr>
          <p:cNvSpPr/>
          <p:nvPr/>
        </p:nvSpPr>
        <p:spPr>
          <a:xfrm>
            <a:off x="502922" y="5175500"/>
            <a:ext cx="255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Sanathraj Narayan</a:t>
            </a:r>
            <a:endParaRPr sz="3000" b="1">
              <a:solidFill>
                <a:schemeClr val="lt1"/>
              </a:solidFill>
            </a:endParaRPr>
          </a:p>
        </p:txBody>
      </p:sp>
      <p:sp>
        <p:nvSpPr>
          <p:cNvPr id="10" name="Google Shape;22;p1">
            <a:extLst>
              <a:ext uri="{FF2B5EF4-FFF2-40B4-BE49-F238E27FC236}">
                <a16:creationId xmlns:a16="http://schemas.microsoft.com/office/drawing/2014/main" id="{5A4E8405-6966-81C1-E39E-0AE25ACF6803}"/>
              </a:ext>
            </a:extLst>
          </p:cNvPr>
          <p:cNvSpPr/>
          <p:nvPr/>
        </p:nvSpPr>
        <p:spPr>
          <a:xfrm>
            <a:off x="558133" y="5628275"/>
            <a:ext cx="2499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4;p1">
            <a:extLst>
              <a:ext uri="{FF2B5EF4-FFF2-40B4-BE49-F238E27FC236}">
                <a16:creationId xmlns:a16="http://schemas.microsoft.com/office/drawing/2014/main" id="{8A348315-19FD-9F96-6EAD-37AD388C8CD6}"/>
              </a:ext>
            </a:extLst>
          </p:cNvPr>
          <p:cNvSpPr/>
          <p:nvPr/>
        </p:nvSpPr>
        <p:spPr>
          <a:xfrm>
            <a:off x="502922" y="5628275"/>
            <a:ext cx="255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Manager, Lam Research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14" name="Google Shape;25;p1">
            <a:extLst>
              <a:ext uri="{FF2B5EF4-FFF2-40B4-BE49-F238E27FC236}">
                <a16:creationId xmlns:a16="http://schemas.microsoft.com/office/drawing/2014/main" id="{5F00579E-DC29-C026-9AAC-E96F266715E1}"/>
              </a:ext>
            </a:extLst>
          </p:cNvPr>
          <p:cNvSpPr/>
          <p:nvPr/>
        </p:nvSpPr>
        <p:spPr>
          <a:xfrm>
            <a:off x="3394542" y="5200320"/>
            <a:ext cx="255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Nitin Agarwal</a:t>
            </a:r>
            <a:endParaRPr sz="3000" b="1">
              <a:solidFill>
                <a:schemeClr val="lt1"/>
              </a:solidFill>
            </a:endParaRPr>
          </a:p>
        </p:txBody>
      </p:sp>
      <p:sp>
        <p:nvSpPr>
          <p:cNvPr id="16" name="Google Shape;26;p1">
            <a:extLst>
              <a:ext uri="{FF2B5EF4-FFF2-40B4-BE49-F238E27FC236}">
                <a16:creationId xmlns:a16="http://schemas.microsoft.com/office/drawing/2014/main" id="{75B2A7F8-945D-1FFE-0DE5-42933FFE08C7}"/>
              </a:ext>
            </a:extLst>
          </p:cNvPr>
          <p:cNvSpPr/>
          <p:nvPr/>
        </p:nvSpPr>
        <p:spPr>
          <a:xfrm>
            <a:off x="3394550" y="5653100"/>
            <a:ext cx="370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Principal Data Scientist, Atlassian</a:t>
            </a:r>
            <a:endParaRPr sz="17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967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289615" y="2994590"/>
            <a:ext cx="2103000" cy="868800"/>
          </a:xfrm>
          <a:prstGeom prst="roundRect">
            <a:avLst>
              <a:gd name="adj" fmla="val 8421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289615" y="2994590"/>
            <a:ext cx="2103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Baseline SLM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9312" y="331463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2667056" y="2994590"/>
            <a:ext cx="2103000" cy="86880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667056" y="2994590"/>
            <a:ext cx="2103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Fine-Tune (QLoRA)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6750" y="331463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5044496" y="2994590"/>
            <a:ext cx="2103000" cy="86880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44496" y="2994590"/>
            <a:ext cx="2103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4191" y="331463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7421936" y="2994590"/>
            <a:ext cx="2103000" cy="86880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421936" y="2994590"/>
            <a:ext cx="2103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M4–5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Agentic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1632" y="331463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9799376" y="2994590"/>
            <a:ext cx="2103000" cy="86880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 w="12700" cap="flat" cmpd="sng">
            <a:solidFill>
              <a:srgbClr val="E2E4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799376" y="2994590"/>
            <a:ext cx="2103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Edge / GGUF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71323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Workshop Timeline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2D1E69B2-9F60-3B91-F846-1D0B5721B5F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A language model is a next-token predictor in a loop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" y="1691640"/>
            <a:ext cx="1938528" cy="2286000"/>
          </a:xfrm>
          <a:prstGeom prst="roundRect">
            <a:avLst>
              <a:gd name="adj" fmla="val 4245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86384" y="1847088"/>
            <a:ext cx="475488" cy="475488"/>
          </a:xfrm>
          <a:prstGeom prst="ellipse">
            <a:avLst/>
          </a:prstGeom>
          <a:solidFill>
            <a:srgbClr val="0C1E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" name="Google Shape;5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256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786384" y="245059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Text 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86384" y="2788920"/>
            <a:ext cx="164592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"Book a flight to"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596896" y="2606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3DFE9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D3DFE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898648" y="1691640"/>
            <a:ext cx="1938528" cy="2286000"/>
          </a:xfrm>
          <a:prstGeom prst="roundRect">
            <a:avLst>
              <a:gd name="adj" fmla="val 4245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044952" y="1847088"/>
            <a:ext cx="475488" cy="475488"/>
          </a:xfrm>
          <a:prstGeom prst="ellipse">
            <a:avLst/>
          </a:prstGeom>
          <a:solidFill>
            <a:srgbClr val="0C1E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3824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3044952" y="245059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Tokenise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044952" y="2788920"/>
            <a:ext cx="164592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Split into sub-word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units with IDs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55464" y="2606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3DFE9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D3DFE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157216" y="1691640"/>
            <a:ext cx="1938528" cy="2286000"/>
          </a:xfrm>
          <a:prstGeom prst="roundRect">
            <a:avLst>
              <a:gd name="adj" fmla="val 4245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303520" y="1847088"/>
            <a:ext cx="475488" cy="475488"/>
          </a:xfrm>
          <a:prstGeom prst="ellipse">
            <a:avLst/>
          </a:prstGeom>
          <a:solidFill>
            <a:srgbClr val="0C1E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2392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5303520" y="245059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Embed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303520" y="2788920"/>
            <a:ext cx="164592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Each token becomes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 vector of meaning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114032" y="2606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3DFE9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D3DFE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415784" y="1691640"/>
            <a:ext cx="1938528" cy="2286000"/>
          </a:xfrm>
          <a:prstGeom prst="roundRect">
            <a:avLst>
              <a:gd name="adj" fmla="val 4245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562088" y="1847088"/>
            <a:ext cx="475488" cy="475488"/>
          </a:xfrm>
          <a:prstGeom prst="ellipse">
            <a:avLst/>
          </a:prstGeom>
          <a:solidFill>
            <a:srgbClr val="0C1E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80960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7562088" y="245059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Transformer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562088" y="2788920"/>
            <a:ext cx="164592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Layers of attention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weigh every token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against every other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9372600" y="2606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3DFE9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D3DFE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9674352" y="1691640"/>
            <a:ext cx="1938528" cy="2286000"/>
          </a:xfrm>
          <a:prstGeom prst="roundRect">
            <a:avLst>
              <a:gd name="adj" fmla="val 4245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9820656" y="1847088"/>
            <a:ext cx="475488" cy="475488"/>
          </a:xfrm>
          <a:prstGeom prst="ellipse">
            <a:avLst/>
          </a:prstGeom>
          <a:solidFill>
            <a:srgbClr val="0C1E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39528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9820656" y="245059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Predict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9820656" y="2788920"/>
            <a:ext cx="164592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 probability over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the whole vocabulary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554480" y="4160520"/>
            <a:ext cx="9052560" cy="384048"/>
          </a:xfrm>
          <a:prstGeom prst="roundRect">
            <a:avLst>
              <a:gd name="adj" fmla="val 47619"/>
            </a:avLst>
          </a:prstGeom>
          <a:solidFill>
            <a:srgbClr val="E4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554480" y="4160520"/>
            <a:ext cx="9052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8A66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0B8A66"/>
                </a:solidFill>
                <a:latin typeface="Calibri"/>
                <a:ea typeface="Calibri"/>
                <a:cs typeface="Calibri"/>
                <a:sym typeface="Calibri"/>
              </a:rPr>
              <a:t>↺   the chosen token is appended to the input, and the whole thing runs again — one token at a time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80" y="4892040"/>
            <a:ext cx="41148" cy="100584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22960" y="4892040"/>
            <a:ext cx="326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Parameters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22960" y="5193792"/>
            <a:ext cx="3261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The learned dials inside those layers. More dials = more patterns stored, more compute per token.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358640" y="4892040"/>
            <a:ext cx="41148" cy="100584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541520" y="4892040"/>
            <a:ext cx="326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Context window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41520" y="5193792"/>
            <a:ext cx="3261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How many tokens it can look at in one go. This is working memory, not knowledge.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077200" y="4892040"/>
            <a:ext cx="41148" cy="100584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8260080" y="4892040"/>
            <a:ext cx="326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Weights vs. context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260080" y="5193792"/>
            <a:ext cx="3261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Anything not in the weights must arrive through the prompt. That gap is exactly what RAG fills.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4" descr="A red and blue logo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6;p12">
            <a:extLst>
              <a:ext uri="{FF2B5EF4-FFF2-40B4-BE49-F238E27FC236}">
                <a16:creationId xmlns:a16="http://schemas.microsoft.com/office/drawing/2014/main" id="{243F257A-1774-5C85-AABE-A64EE67D73FC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So what actually makes a model "small"?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40080" y="160020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EAEEFE"/>
          </a:solidFill>
          <a:ln w="12700" cap="flat" cmpd="sng">
            <a:solidFill>
              <a:srgbClr val="EAEEF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005840" y="1874520"/>
            <a:ext cx="548640" cy="548640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011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1691640" y="193852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900"/>
              <a:buFont typeface="Cambria"/>
              <a:buNone/>
            </a:pPr>
            <a:r>
              <a:rPr lang="en-US" sz="19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The count heuristic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05840" y="2606040"/>
            <a:ext cx="448056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Anything under roughly 10 billion parameters is treated as small, as of 2025.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8461"/>
              </a:lnSpc>
              <a:spcBef>
                <a:spcPts val="800"/>
              </a:spcBef>
              <a:spcAft>
                <a:spcPts val="0"/>
              </a:spcAft>
              <a:buClr>
                <a:srgbClr val="31465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Frontier LLMs sit at hundreds of billions — GPT models are reported above a trillion.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8461"/>
              </a:lnSpc>
              <a:spcBef>
                <a:spcPts val="800"/>
              </a:spcBef>
              <a:spcAft>
                <a:spcPts val="0"/>
              </a:spcAft>
              <a:buClr>
                <a:srgbClr val="31465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Easy to say, but it ages badly. Today's "large" is next year's phone model.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309360" y="160020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E4F7F0"/>
          </a:solidFill>
          <a:ln w="12700" cap="flat" cmpd="sng">
            <a:solidFill>
              <a:srgbClr val="E4F7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675120" y="1874520"/>
            <a:ext cx="548640" cy="548640"/>
          </a:xfrm>
          <a:prstGeom prst="ellipse">
            <a:avLst/>
          </a:prstGeom>
          <a:solidFill>
            <a:srgbClr val="0B8A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2280" y="2011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7360920" y="193852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900"/>
              <a:buFont typeface="Cambria"/>
              <a:buNone/>
            </a:pPr>
            <a:r>
              <a:rPr lang="en-US" sz="19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The deployability definition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675120" y="2606040"/>
            <a:ext cx="448056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300"/>
              <a:buFont typeface="Calibri"/>
              <a:buChar char="•"/>
            </a:pPr>
            <a:r>
              <a:rPr lang="en-US" sz="1300" dirty="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An SLM is a model that fits on a common consumer device and answers fast enough to serve one user's agentic requests.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8461"/>
              </a:lnSpc>
              <a:spcBef>
                <a:spcPts val="800"/>
              </a:spcBef>
              <a:spcAft>
                <a:spcPts val="0"/>
              </a:spcAft>
              <a:buClr>
                <a:srgbClr val="31465C"/>
              </a:buClr>
              <a:buSzPts val="1300"/>
              <a:buFont typeface="Calibri"/>
              <a:buChar char="•"/>
            </a:pPr>
            <a:r>
              <a:rPr lang="en-US" sz="1300" dirty="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An LLM is simply everything that isn't.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8461"/>
              </a:lnSpc>
              <a:spcBef>
                <a:spcPts val="800"/>
              </a:spcBef>
              <a:spcAft>
                <a:spcPts val="0"/>
              </a:spcAft>
              <a:buClr>
                <a:srgbClr val="31465C"/>
              </a:buClr>
              <a:buSzPts val="1300"/>
              <a:buFont typeface="Calibri"/>
              <a:buChar char="•"/>
            </a:pPr>
            <a:r>
              <a:rPr lang="en-US" sz="1300" dirty="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Anchored on what you can actually ship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0080" y="46177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C1E30"/>
          </a:solidFill>
          <a:ln w="12700" cap="flat" cmpd="sng">
            <a:solidFill>
              <a:srgbClr val="0C1E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1097280" y="4800600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B886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2B886"/>
                </a:solidFill>
                <a:latin typeface="Cambria"/>
                <a:ea typeface="Cambria"/>
                <a:cs typeface="Cambria"/>
                <a:sym typeface="Cambria"/>
              </a:rPr>
              <a:t>Why the second one is the useful definition for architects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097280" y="5138928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BCD0E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BCD0E0"/>
                </a:solidFill>
                <a:latin typeface="Calibri"/>
                <a:ea typeface="Calibri"/>
                <a:cs typeface="Calibri"/>
                <a:sym typeface="Calibri"/>
              </a:rPr>
              <a:t>It reframes the question from "how big is it?" to "where can it run, and how fast does it come back?" — which is the question your latency budget, your privacy review and your bill are all actually asking.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5" descr="A red and blue logo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6;p12">
            <a:extLst>
              <a:ext uri="{FF2B5EF4-FFF2-40B4-BE49-F238E27FC236}">
                <a16:creationId xmlns:a16="http://schemas.microsoft.com/office/drawing/2014/main" id="{63135B7E-BFA9-0327-36E6-B746E95B01D1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The landscape, to scale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6"/>
          <p:cNvGraphicFramePr/>
          <p:nvPr/>
        </p:nvGraphicFramePr>
        <p:xfrm>
          <a:off x="640080" y="155448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3" name="Google Shape;123;p6"/>
          <p:cNvSpPr/>
          <p:nvPr/>
        </p:nvSpPr>
        <p:spPr>
          <a:xfrm>
            <a:off x="7863840" y="160020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E4F7F0"/>
          </a:solidFill>
          <a:ln w="12700" cap="flat" cmpd="sng">
            <a:solidFill>
              <a:srgbClr val="E4F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8138160" y="17830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Everything in green is an SLM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138160" y="2121408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All of them run on a single consumer GPU — several run on a phone. GPT-3 is shown in navy for scale only.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863840" y="310896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8138160" y="3291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The gap is not linear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138160" y="3630168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 25× parameter gap does not mean a 25× capability gap. The scaling curve has steepened — recent small models land close to the previous generation's large ones.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863840" y="461772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0C1E30"/>
          </a:solidFill>
          <a:ln w="12700" cap="flat" cmpd="sng">
            <a:solidFill>
              <a:srgbClr val="0C1E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8138160" y="47548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B886"/>
              </a:buClr>
              <a:buSzPts val="3800"/>
              <a:buFont typeface="Cambria"/>
              <a:buNone/>
            </a:pPr>
            <a:r>
              <a:rPr lang="en-US" sz="3800" b="1">
                <a:solidFill>
                  <a:srgbClr val="12B886"/>
                </a:solidFill>
                <a:latin typeface="Cambria"/>
                <a:ea typeface="Cambria"/>
                <a:cs typeface="Cambria"/>
                <a:sym typeface="Cambria"/>
              </a:rPr>
              <a:t>10–30×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138160" y="53492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BCD0E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CD0E0"/>
                </a:solidFill>
                <a:latin typeface="Calibri"/>
                <a:ea typeface="Calibri"/>
                <a:cs typeface="Calibri"/>
                <a:sym typeface="Calibri"/>
              </a:rPr>
              <a:t>cheaper to serve a 7B model than a 70–175B one, measured across latency, energy and FLOPs.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6" descr="A red and blue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6;p12">
            <a:extLst>
              <a:ext uri="{FF2B5EF4-FFF2-40B4-BE49-F238E27FC236}">
                <a16:creationId xmlns:a16="http://schemas.microsoft.com/office/drawing/2014/main" id="{02BDAA2E-CECD-8BE6-C7CA-DC2390C17E66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Four ways a small model gets made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0080" y="1645920"/>
            <a:ext cx="5234940" cy="20574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960120" y="1965960"/>
            <a:ext cx="566928" cy="566928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852" y="2107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1691640" y="2029968"/>
            <a:ext cx="38633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Distillation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60120" y="2633472"/>
            <a:ext cx="45948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A large teacher generates outputs; a small student learns to imitate them. The student keeps much of the behaviour at a fraction of the size.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960120" y="3337560"/>
            <a:ext cx="45948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7CFA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5C7CFA"/>
                </a:solidFill>
                <a:latin typeface="Calibri"/>
                <a:ea typeface="Calibri"/>
                <a:cs typeface="Calibri"/>
                <a:sym typeface="Calibri"/>
              </a:rPr>
              <a:t>DistilBERT · DeepSeek-R1-Distill (1.5–8B)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286500" y="1645920"/>
            <a:ext cx="5234940" cy="20574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606540" y="1965960"/>
            <a:ext cx="566928" cy="566928"/>
          </a:xfrm>
          <a:prstGeom prst="ellipse">
            <a:avLst/>
          </a:prstGeom>
          <a:solidFill>
            <a:srgbClr val="0B8A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0" name="Google Shape;150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8272" y="2107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7338060" y="2029968"/>
            <a:ext cx="38633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Compression &amp; pruning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606540" y="2633472"/>
            <a:ext cx="45948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Strip redundant weights, quantise the rest to lower precision. Most activations were sparse anyway — few parameters fire for any given input.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606540" y="3337560"/>
            <a:ext cx="45948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8A66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0B8A66"/>
                </a:solidFill>
                <a:latin typeface="Calibri"/>
                <a:ea typeface="Calibri"/>
                <a:cs typeface="Calibri"/>
                <a:sym typeface="Calibri"/>
              </a:rPr>
              <a:t>Quantisation · structured pruning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" y="4023360"/>
            <a:ext cx="5234940" cy="20574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960120" y="4343400"/>
            <a:ext cx="566928" cy="566928"/>
          </a:xfrm>
          <a:prstGeom prst="ellipse">
            <a:avLst/>
          </a:prstGeom>
          <a:solidFill>
            <a:srgbClr val="E894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1852" y="44851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1691640" y="4407408"/>
            <a:ext cx="38633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Architecture redesign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60120" y="5010912"/>
            <a:ext cx="45948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Stop shrinking transformers and design for the size band directly — hybrid attention layers built for throughput.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60120" y="5715000"/>
            <a:ext cx="45948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940C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E8940C"/>
                </a:solidFill>
                <a:latin typeface="Calibri"/>
                <a:ea typeface="Calibri"/>
                <a:cs typeface="Calibri"/>
                <a:sym typeface="Calibri"/>
              </a:rPr>
              <a:t>Hymba-1.5B · Nemotron-H (2/4.8/9B)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286500" y="4023360"/>
            <a:ext cx="5234940" cy="20574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2700" cap="flat" cmpd="sng">
            <a:solidFill>
              <a:srgbClr val="F2F6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C1E30">
                <a:alpha val="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606540" y="4343400"/>
            <a:ext cx="566928" cy="566928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" name="Google Shape;162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48272" y="44851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7338060" y="4407408"/>
            <a:ext cx="38633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Task specialisation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606540" y="5010912"/>
            <a:ext cx="45948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Take a capable base and fine-tune it hard on one job. Parameter-efficient methods need only a few GPU-hours.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606540" y="5715000"/>
            <a:ext cx="45948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7CFA"/>
              </a:buClr>
              <a:buSzPts val="1100"/>
              <a:buFont typeface="Calibri"/>
              <a:buNone/>
            </a:pPr>
            <a:r>
              <a:rPr lang="en-US" sz="1100" b="1" i="1">
                <a:solidFill>
                  <a:srgbClr val="5C7CFA"/>
                </a:solidFill>
                <a:latin typeface="Calibri"/>
                <a:ea typeface="Calibri"/>
                <a:cs typeface="Calibri"/>
                <a:sym typeface="Calibri"/>
              </a:rPr>
              <a:t>LoRA · QLoRA · DoRA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In practice these stack: a distilled base, quantised for the target device, then LoRA-tuned on your own traffic.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7" descr="A red and blue logo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6;p12">
            <a:extLst>
              <a:ext uri="{FF2B5EF4-FFF2-40B4-BE49-F238E27FC236}">
                <a16:creationId xmlns:a16="http://schemas.microsoft.com/office/drawing/2014/main" id="{67A1D086-EFA5-0564-38A1-C93E340E7690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Where small models genuinely fall down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6733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1143000" y="16459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Nuance and subtext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143000" y="1993392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Fewer parameters means less room for the fine contextual distinctions that show up in ambiguous or figurative language.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16733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/>
          <p:nvPr/>
        </p:nvSpPr>
        <p:spPr>
          <a:xfrm>
            <a:off x="6858000" y="16459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Deep multi-step abstraction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858000" y="1993392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Long chains of dependent reasoning degrade faster. Error compounds across steps.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0449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1143000" y="30175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Open-domain conversation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143000" y="3364992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Genuinely general chat is the one thing scale still buys outright.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30449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6858000" y="30175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E30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0C1E30"/>
                </a:solidFill>
                <a:latin typeface="Cambria"/>
                <a:ea typeface="Cambria"/>
                <a:cs typeface="Cambria"/>
                <a:sym typeface="Cambria"/>
              </a:rPr>
              <a:t>Unstructured recovery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858000" y="3364992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When something breaks in a way nobody anticipated, breadth of world knowledge is what gets you out.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40080" y="452628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FDF3E2"/>
          </a:solidFill>
          <a:ln w="12700" cap="flat" cmpd="sng">
            <a:solidFill>
              <a:srgbClr val="FDF3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097280" y="4709160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8A5A00"/>
                </a:solidFill>
                <a:latin typeface="Cambria"/>
                <a:ea typeface="Cambria"/>
                <a:cs typeface="Cambria"/>
                <a:sym typeface="Cambria"/>
              </a:rPr>
              <a:t>The counter-argument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97280" y="5047488"/>
            <a:ext cx="9966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1465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1465C"/>
                </a:solidFill>
                <a:latin typeface="Calibri"/>
                <a:ea typeface="Calibri"/>
                <a:cs typeface="Calibri"/>
                <a:sym typeface="Calibri"/>
              </a:rPr>
              <a:t>Scaling laws are real: for a single task in general language, the larger model of the same generation usually wins. A small model can be fine-tuned for your one task, and that test-time compute is cheap enough.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9" descr="A red and blue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6;p12">
            <a:extLst>
              <a:ext uri="{FF2B5EF4-FFF2-40B4-BE49-F238E27FC236}">
                <a16:creationId xmlns:a16="http://schemas.microsoft.com/office/drawing/2014/main" id="{ECDD4912-B308-8CE2-013C-33FD959ECE88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The SLM Landscape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6"/>
          <p:cNvGraphicFramePr/>
          <p:nvPr/>
        </p:nvGraphicFramePr>
        <p:xfrm>
          <a:off x="548640" y="1600200"/>
          <a:ext cx="11064250" cy="1828800"/>
        </p:xfrm>
        <a:graphic>
          <a:graphicData uri="http://schemas.openxmlformats.org/drawingml/2006/table">
            <a:tbl>
              <a:tblPr>
                <a:noFill/>
                <a:tableStyleId>{8902A333-22EE-40EC-A880-01AADD572227}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Params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Developer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Strength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TinyLlama-1.1B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1.1B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Zhang et al.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Ultra-lightweight, fast inference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SmolLM-1.7B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1.7B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HuggingFace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Distilled, on-device ready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Qwen2.5-1.5B-Instruct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1.5B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Alibaba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instruction-following at size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" name="Google Shape;120;p6"/>
          <p:cNvSpPr/>
          <p:nvPr/>
        </p:nvSpPr>
        <p:spPr>
          <a:xfrm>
            <a:off x="548640" y="46177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4846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1234440" y="4736592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Workshop benchmark set: this session uses exactly 3 models — TinyLlama-1.1B, SmolLM-1.7B, and Qwen2.5-1.5B — chosen for free-tier Colab compatibility and fast load/unload cycles within a single session.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FD65CB7B-7112-A344-F430-AA3CE3C0B9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0" y="3153475"/>
            <a:ext cx="12192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Hands-On time!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B739CDF9-0888-68F3-6A10-9CDC379BDD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6 · SYNTHESIS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822960" y="1691640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SLMs ≠ bad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023360" y="1691640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Well-trained SLMs like Qwen2.5-1.5B outperform naive LLMs on focused tasks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48640" y="253288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22960" y="2532888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Throughput matters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023360" y="2532888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Higher tok/s = better UX, especially for streaming applications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48640" y="337413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822960" y="3374136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Memory is the bottleneck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023360" y="3374136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4-bit quantization is essential for on-device / edge deployment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48640" y="421538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22960" y="4215384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Task-model fit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023360" y="4215384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Always benchmark on your tasks — leaderboards ≠ real-world performance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548640" y="505663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822960" y="5056632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Context window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023360" y="5056632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SLMs shine on short-to-medium inputs; long docs need chunking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3A00C73C-5561-8460-0ABE-11F7440783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5bd0c4bfa_0_0"/>
          <p:cNvSpPr/>
          <p:nvPr/>
        </p:nvSpPr>
        <p:spPr>
          <a:xfrm>
            <a:off x="548640" y="411480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RUNNING CASE STUDY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5bd0c4bfa_0_0"/>
          <p:cNvSpPr/>
          <p:nvPr/>
        </p:nvSpPr>
        <p:spPr>
          <a:xfrm>
            <a:off x="548640" y="71323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Meet MediLearn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5bd0c4bfa_0_0"/>
          <p:cNvSpPr/>
          <p:nvPr/>
        </p:nvSpPr>
        <p:spPr>
          <a:xfrm>
            <a:off x="548640" y="1554480"/>
            <a:ext cx="64008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module in this workshop builds toward one continuous system — a medical-education AI assistant. The model you benchmark today is the exact model Module 2 fine-tunes, Module 3 grounds with RAG, Module 4 orchestrates, and Module 6 ships to the edge.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5bd0c4bfa_0_0"/>
          <p:cNvSpPr/>
          <p:nvPr/>
        </p:nvSpPr>
        <p:spPr>
          <a:xfrm>
            <a:off x="7315200" y="1508760"/>
            <a:ext cx="4297800" cy="2469000"/>
          </a:xfrm>
          <a:prstGeom prst="roundRect">
            <a:avLst>
              <a:gd name="adj" fmla="val 2963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3f5bd0c4bfa_0_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f5bd0c4bfa_0_0"/>
          <p:cNvSpPr/>
          <p:nvPr/>
        </p:nvSpPr>
        <p:spPr>
          <a:xfrm>
            <a:off x="7635240" y="233172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Why a medical use case?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5bd0c4bfa_0_0"/>
          <p:cNvSpPr/>
          <p:nvPr/>
        </p:nvSpPr>
        <p:spPr>
          <a:xfrm>
            <a:off x="7635240" y="2743200"/>
            <a:ext cx="36576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High-stakes domain language tests whether a small model can be specialized reliably — and reveals exactly where general-purpose SLMs fall short.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6;p12">
            <a:extLst>
              <a:ext uri="{FF2B5EF4-FFF2-40B4-BE49-F238E27FC236}">
                <a16:creationId xmlns:a16="http://schemas.microsoft.com/office/drawing/2014/main" id="{CD99DEE8-57C4-5C46-67F9-350B7B8A3BB4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36DF85CF-C72A-7A3F-5F18-FDC1492C3C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The Shared 60-Question Benchmark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48640" y="1554480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Starting now, every module (1, 2, 3, 4–5, and 6) evaluates against the same fixed medical benchmark, scored identically. Only the model or pipeline changes — so when scores move, you'll know exactly why.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13"/>
          <p:cNvGraphicFramePr/>
          <p:nvPr/>
        </p:nvGraphicFramePr>
        <p:xfrm>
          <a:off x="548640" y="2468880"/>
          <a:ext cx="4206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9" name="Google Shape;259;p13"/>
          <p:cNvSpPr/>
          <p:nvPr/>
        </p:nvSpPr>
        <p:spPr>
          <a:xfrm>
            <a:off x="5120640" y="2468880"/>
            <a:ext cx="6492240" cy="3657600"/>
          </a:xfrm>
          <a:prstGeom prst="roundRect">
            <a:avLst>
              <a:gd name="adj" fmla="val 2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5394960" y="26974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Three difficulty tiers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5394960" y="32004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L1 — Basic recall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9418320" y="32004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 questions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394960" y="352044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Single-fact, flashcard-style. The floor for any fine-tuned model.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394960" y="40050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L2 — Clinical scenario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9418320" y="400507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24 questions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394960" y="432511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Requires one guideline fact — where RAG should show its biggest lift.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394960" y="480974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L3 — Advanced reasoning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9418320" y="480974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 questions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394960" y="5129784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Differential diagnosis &amp; 'explain why' — where Agentic RAG should pull ahead.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9C73C6B1-4275-CAD5-2AEE-C183FF1144C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Shared Scoring Harness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Copy-identical scoring code runs in every module — this is what makes a Module 1 score directly comparable to a Module 6 score.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548640" y="23774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2606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/>
          <p:nvPr/>
        </p:nvSpPr>
        <p:spPr>
          <a:xfrm>
            <a:off x="777240" y="31089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Term Coverage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777240" y="365760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Fraction of expected key terms present in the response (0–1)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3383280" y="23774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1880" y="2606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4"/>
          <p:cNvSpPr/>
          <p:nvPr/>
        </p:nvSpPr>
        <p:spPr>
          <a:xfrm>
            <a:off x="3611880" y="31089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Semantic Relevance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3611880" y="365760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Cosine similarity vs. reference answer using BAAI/bge-small-en-v1.5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217920" y="23774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6520" y="2606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6446520" y="31089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Latency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6446520" y="365760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Seconds per response, tracked across every condition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9052560" y="23774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1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81160" y="2606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/>
          <p:nvPr/>
        </p:nvSpPr>
        <p:spPr>
          <a:xfrm>
            <a:off x="9281160" y="31089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Scored by Tier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9281160" y="365760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Every metric broken out by L1 / L2 / L3 — not just an overall average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8"/>
          <p:cNvSpPr/>
          <p:nvPr/>
        </p:nvSpPr>
        <p:spPr>
          <a:xfrm>
            <a:off x="640080" y="21945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Up Next: Module 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40080" y="2743200"/>
            <a:ext cx="91440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SLM Fine-Tuning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1 · INTRODUCTION TO SMALL LANGUAGE MODELS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6B8E50A5-9FD9-2205-2EC9-7ECDCB0E3F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2262</Words>
  <Application>Microsoft Office PowerPoint</Application>
  <PresentationFormat>Widescreen</PresentationFormat>
  <Paragraphs>220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SLM Workshop</dc:creator>
  <cp:lastModifiedBy>Nitin Agarwal</cp:lastModifiedBy>
  <cp:revision>2</cp:revision>
  <dcterms:created xsi:type="dcterms:W3CDTF">2026-07-01T11:21:29Z</dcterms:created>
  <dcterms:modified xsi:type="dcterms:W3CDTF">2026-08-07T17:52:28Z</dcterms:modified>
</cp:coreProperties>
</file>