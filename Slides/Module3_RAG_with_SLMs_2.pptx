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fIK0vtPzAkQ6Q+USSjYGGEm0/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695c4b1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3f695c4b1e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f695c4b1e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blue logo&#10;&#10;AI-generated content may be incorrect.">
            <a:extLst>
              <a:ext uri="{FF2B5EF4-FFF2-40B4-BE49-F238E27FC236}">
                <a16:creationId xmlns:a16="http://schemas.microsoft.com/office/drawing/2014/main" id="{95FEBF2A-88B2-FE5E-8C1C-613EFACF82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82550" y="609889"/>
            <a:ext cx="2605548" cy="49793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ircle with a light in the middl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 2"/>
          <p:cNvSpPr/>
          <p:nvPr/>
        </p:nvSpPr>
        <p:spPr>
          <a:xfrm>
            <a:off x="502920" y="2606040"/>
            <a:ext cx="70408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>
              <a:lnSpc>
                <a:spcPct val="105000"/>
              </a:lnSpc>
              <a:buClr>
                <a:srgbClr val="F2F2F2"/>
              </a:buClr>
              <a:buSzPts val="40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Retrieval-Augmented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05000"/>
              </a:lnSpc>
              <a:buClr>
                <a:srgbClr val="F2F2F2"/>
              </a:buClr>
              <a:buSzPts val="40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Generation (RAG) with SLMs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12064" y="416052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i="1">
              <a:solidFill>
                <a:srgbClr val="1FB6A6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506809" y="5036978"/>
            <a:ext cx="1064698" cy="30638"/>
          </a:xfrm>
          <a:prstGeom prst="rect">
            <a:avLst/>
          </a:prstGeom>
          <a:solidFill>
            <a:srgbClr val="FE7202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7"/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AEB6C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" name="Text Footer Date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9AA4C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" name="Text Footer HxAI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>
              <a:solidFill>
                <a:srgbClr val="9AA4C0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0" name="Picture 49" descr="A black and white logo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3" y="226513"/>
            <a:ext cx="3196169" cy="577824"/>
          </a:xfrm>
          <a:prstGeom prst="rect">
            <a:avLst/>
          </a:prstGeom>
        </p:spPr>
      </p:pic>
      <p:sp>
        <p:nvSpPr>
          <p:cNvPr id="52" name="Text 6"/>
          <p:cNvSpPr/>
          <p:nvPr/>
        </p:nvSpPr>
        <p:spPr>
          <a:xfrm>
            <a:off x="558137" y="562828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/>
                <a:ea typeface="Arial" panose="020B0604020202020204" pitchFamily="34" charset="-122"/>
                <a:cs typeface="Arial" panose="020B0604020202020204"/>
              </a:rPr>
              <a:t>&lt;&lt;Designation&gt;&gt;</a:t>
            </a:r>
            <a:endParaRPr lang="en-US" sz="1600" dirty="0"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3300" y="0"/>
            <a:ext cx="399605" cy="599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MODULE 3 ROADMAP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84048" y="169164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4864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488" y="1892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548640" y="2496312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is RAG?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3108960"/>
            <a:ext cx="149961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retrieval beats memorisation for medical 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340864" y="169164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505456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5304" y="1892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2505456" y="2496312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Knowledge Base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505456" y="3108960"/>
            <a:ext cx="149961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 3 complementary medical datasets from scratch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297680" y="169164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462272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2120" y="1892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4462272" y="2496312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Chunk &amp; Embed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462272" y="3108960"/>
            <a:ext cx="149961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Split documents + BAAI/bge-small-v1.5 embeddings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54496" y="169164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19088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88936" y="1892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6419088" y="2496312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ChromaDB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19088" y="3108960"/>
            <a:ext cx="149961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Persist and query a local vector database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211312" y="169164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375904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5752" y="1892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8375904" y="2496312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RAG Pipeline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375904" y="3108960"/>
            <a:ext cx="149961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Retrieve → Prompt → Generate with the fine-tuned SLM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168128" y="169164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33272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02568" y="1892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10332720" y="2496312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 dirty="0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3-Way Eval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332720" y="3108960"/>
            <a:ext cx="149961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SLM vs SLM+RAG vs GPT-4o+RAG on 60 questions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WORKSHOP ARC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Module 3 in Context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is the first module where the fine-tuned model from Module 2 is put to work on an actual knowledge retrieval task. The RAG pipeline built here also forms the retrieval backbone for Module 4–5's agentic system.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4864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Baseline SLM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Benchmark established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8336" y="3127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292608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92608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Fine-Tune ✓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92608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Merged model on Drive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5776" y="3127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530352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30352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30352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← You are here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3216" y="3127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768096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 cap="flat" cmpd="sng">
            <a:solidFill>
              <a:srgbClr val="F4F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68096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M4–5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68096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Uses RAG backbone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0656" y="3127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1005840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 cap="flat" cmpd="sng">
            <a:solidFill>
              <a:srgbClr val="F4F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1005840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Edge / GGUF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005840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Loads merged model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40233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4251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1298448" y="420624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What Module 3 loads from Drive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22960" y="4590288"/>
            <a:ext cx="4800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medical_slm_finetuned/ — the merged SmolLM-135M model saved by Module 2's Section 8.1. If the path is missing, Section 6 (fine-tuned SLM baseline) will silently fall back to a raw base model.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309360" y="40233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0" y="4251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7059168" y="420624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mbria"/>
                <a:ea typeface="Cambria"/>
                <a:cs typeface="Cambria"/>
                <a:sym typeface="Cambria"/>
              </a:rPr>
              <a:t>What Module 3 produces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583680" y="4590288"/>
            <a:ext cx="4800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ChromaDB vector store at /content/chroma_medilearn + eval JSON files written to Drive/eval/results/. Module 4–5 re-uses the same retrieval pattern.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1 · CONCEPTS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is Retrieval-Augmented Generation?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8640" y="1554480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RAG adds a retrieval step before generation — the model doesn't need to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memorise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every fact; it looks them up at inference time. For medical applications, this is the difference between a confident wrong answer and a grounded right one.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56340" y="2743201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280" y="29443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347780" y="3520441"/>
            <a:ext cx="1600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5996" y="347929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2268020" y="2743201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0960" y="29443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2359460" y="3520441"/>
            <a:ext cx="1600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7676" y="347929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4279700" y="2743201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2563EB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2640" y="29443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4371140" y="3520441"/>
            <a:ext cx="1600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9356" y="347929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6291380" y="2743201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54320" y="29443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6382820" y="3520441"/>
            <a:ext cx="1600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1036" y="347929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8303060" y="2743201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1C1F26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66000" y="29443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8394500" y="3520441"/>
            <a:ext cx="1600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Generates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2716" y="347929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10314740" y="2743201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16A34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77680" y="29443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10406180" y="3520441"/>
            <a:ext cx="1600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47091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48640" y="4709160"/>
            <a:ext cx="109728" cy="10058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04672" y="478231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Without RAG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04672" y="5111496"/>
            <a:ext cx="4937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answers from training weights only. Outdated, hallucination-prone, no citations. Fine-tuning helps style — not live fact accuracy.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309360" y="47091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309360" y="4709160"/>
            <a:ext cx="109728" cy="10058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565392" y="478231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With RAG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565392" y="5111496"/>
            <a:ext cx="4937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Retrieved context is injected into the prompt. Model grounds its answer to real documents. Much harder to hallucinate when the fact is right there.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2 · KNOWLEDGE BASE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Section 2: 3 Complementary Medical Datasets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8640" y="155448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pre-built corpus — we construct three datasets from scratch, each designed to cover a different type of knowledge retrieval need.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2331720"/>
            <a:ext cx="3703320" cy="4114800"/>
          </a:xfrm>
          <a:prstGeom prst="roundRect">
            <a:avLst>
              <a:gd name="adj" fmla="val 1975"/>
            </a:avLst>
          </a:prstGeom>
          <a:solidFill>
            <a:srgbClr val="1C1F26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85800" y="25146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5A8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044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685800" y="30632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Case-Based Dataset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85800" y="3502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Realistic clinical scenarios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85800" y="405993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914400" y="397764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Patient complaint + history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85800" y="44988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914400" y="441655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Symptoms &amp; physical findings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85800" y="493776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914400" y="485546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Diagnosis &amp; treatment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85800" y="53766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914400" y="529437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Outcome &amp; follow-up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85800" y="582472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Gives the retriever real patient language to match against clinical questions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343400" y="2331720"/>
            <a:ext cx="3703320" cy="4114800"/>
          </a:xfrm>
          <a:prstGeom prst="roundRect">
            <a:avLst>
              <a:gd name="adj" fmla="val 1975"/>
            </a:avLst>
          </a:prstGeom>
          <a:solidFill>
            <a:srgbClr val="2563EB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572000" y="25146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8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5A8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664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4572000" y="30632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Clinical Guidelines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0" y="3502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Evidence-based protocols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0" y="405993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800600" y="397764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Diagnostic criteria (e.g. troponin thresholds)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0" y="44988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800600" y="441655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First-line treatments &amp; dosing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0" y="493776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800600" y="485546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Contraindications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572000" y="53766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800600" y="529437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Monitoring parameters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572000" y="582472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Directly answers 'what should be done' — the L2 clinical-scenario questions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8229600" y="2331720"/>
            <a:ext cx="3703320" cy="4114800"/>
          </a:xfrm>
          <a:prstGeom prst="roundRect">
            <a:avLst>
              <a:gd name="adj" fmla="val 1975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8458200" y="25146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9284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8458200" y="30632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Knowledge Synthesis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458200" y="3502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Pathophysiology + misconceptions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458200" y="405993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686800" y="397764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Mechanism of disease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458200" y="44988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8686800" y="441655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Common clinical misconceptions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8458200" y="493776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8686800" y="485546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Lab value interpretation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8458200" y="53766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8686800" y="529437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Drug interaction explanations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458200" y="582472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Supports the 'explain why' L3 reasoning questions that stumped the fine-tuned model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3 · CHUNKING &amp; EMBEDDINGS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Section 3: Split, Embed, Store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Long medical documents are split into overlapping chunks before embedding — this keeps each vector focused on a single clinical concept while preserving cross-sentence context.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48640" y="246888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26974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777240" y="309067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Medical Document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77240" y="347472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e.g. a clinical guidelines entry — 400 words covering AMI diagnostic criteria, first-line therapy, and contraindications.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77240" y="480060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chunk_size = 300 words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overlap = 50 words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3360" y="39136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4480560" y="246888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663440" y="25603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Chunk 1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663440" y="29260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7D7F5"/>
                </a:solidFill>
                <a:latin typeface="Calibri"/>
                <a:ea typeface="Calibri"/>
                <a:cs typeface="Calibri"/>
                <a:sym typeface="Calibri"/>
              </a:rPr>
              <a:t>words 1–300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480560" y="352044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663440" y="36118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Chunk 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663440" y="3977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7D7F5"/>
                </a:solidFill>
                <a:latin typeface="Calibri"/>
                <a:ea typeface="Calibri"/>
                <a:cs typeface="Calibri"/>
                <a:sym typeface="Calibri"/>
              </a:rPr>
              <a:t>words 251–550 (50 overlap)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480560" y="457200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364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663440" y="46634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Chunk 3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663440" y="50292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7D7F5"/>
                </a:solidFill>
                <a:latin typeface="Calibri"/>
                <a:ea typeface="Calibri"/>
                <a:cs typeface="Calibri"/>
                <a:sym typeface="Calibri"/>
              </a:rPr>
              <a:t>words 501–end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0960" y="39136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/>
          <p:nvPr/>
        </p:nvSpPr>
        <p:spPr>
          <a:xfrm>
            <a:off x="8092440" y="246888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21040" y="26974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8321040" y="309067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BAAI/bge-small-en-v1.5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321040" y="354787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~33M params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9966960" y="354787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Tiny — loads in seconds on T4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8321040" y="398678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384-dim vectors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9966960" y="3986784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Dense enough for medical semantic search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321040" y="442569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9966960" y="4425696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Used for both retrieval and the eval scoring harness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8321040" y="486460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Same model across all modules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9966960" y="4864608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embedding drift between M1, M3, M4, M6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4 · VECTOR STORE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Section 4: ChromaDB — Local Persistent Vector Database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48640" y="15727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ChromaDB stores our embeddings on disk so they survive kernel restarts. The entire vector store runs locally inside Colab — no external service, no API key, no cost.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48640" y="2331720"/>
            <a:ext cx="6858000" cy="2331720"/>
          </a:xfrm>
          <a:prstGeom prst="roundRect">
            <a:avLst>
              <a:gd name="adj" fmla="val 2353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777240" y="2496312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Init persistent client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client = chromadb.PersistentClient(path='/content/chroma_medilearn')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Create collection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collection = client.create_collection('medilearn')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Insert all chunk embeddings + metadata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collection.add(embeddings=embeddings, documents=texts, ids=ids, metadatas=meta)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635240" y="233172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7818120" y="23774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Persistent storage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7818120" y="26791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Data survives notebook restarts — rebuild once per session, not once per query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7635240" y="312724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818120" y="317296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Collection = medilearn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818120" y="34747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Deleted and rebuilt on each fresh run to avoid stale embeddings from a previous session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7635240" y="3922776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7818120" y="3968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Metadata stored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818120" y="42702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Each chunk carries its source type (case/guideline/synthesis) for filtered retrieval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48640" y="484632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Retrieval query 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48640" y="523036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77240" y="523036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query_embedding = embedding_model.encode([query])[0].tolist()   →   results = collection.query(query_embeddings=[query_embedding], n_results=top_k)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5 · THE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Section 7: Retrieve → Prompt → Generate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48640" y="15727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rag_generate() function is the heart of Module 3. It wraps the entire pipeline in a single call — retrieve, build prompt, generate — and returns the response alongside the retrieved source chunks for inspection.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48640" y="25603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749808" y="2670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208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/>
          <p:nvPr/>
        </p:nvSpPr>
        <p:spPr>
          <a:xfrm>
            <a:off x="749808" y="3063240"/>
            <a:ext cx="4855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Retrieve top-k chunks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749808" y="3401568"/>
            <a:ext cx="4855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top_k=5 chunks fetched from ChromaDB by cosine similarity to the embedded query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035040" y="25603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6236208" y="2670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8"/>
          <p:cNvSpPr/>
          <p:nvPr/>
        </p:nvSpPr>
        <p:spPr>
          <a:xfrm>
            <a:off x="6236208" y="3063240"/>
            <a:ext cx="4855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Build augmented prompt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236208" y="3401568"/>
            <a:ext cx="4855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Retrieved chunks are injected before the question: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"Context: {chunks}\n\nQuestion: {query}"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48640" y="4133088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C1F26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749808" y="424281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12080" y="42702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/>
          <p:nvPr/>
        </p:nvSpPr>
        <p:spPr>
          <a:xfrm>
            <a:off x="749808" y="4636008"/>
            <a:ext cx="4855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Generate with SLM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49808" y="4974336"/>
            <a:ext cx="4855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Fine-tuned SmolLM-135M generates max_tokens=300. Chat template applied before tokenisation.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035040" y="4133088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6236208" y="424281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98480" y="42702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/>
          <p:nvPr/>
        </p:nvSpPr>
        <p:spPr>
          <a:xfrm>
            <a:off x="6236208" y="4636008"/>
            <a:ext cx="48554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Return + 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236208" y="4974336"/>
            <a:ext cx="4855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Returns {response, retrieved_docs, scores} — sources are visible for every RAG answer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8640" y="5650992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77240" y="5650992"/>
            <a:ext cx="10607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prompt = f"You are a medical education assistant.\nContext:\n{context}\n\nQuestion: {query}\nProvide a concise, accurate answer based on the context above."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695c4b1eb_0_0"/>
          <p:cNvSpPr/>
          <p:nvPr/>
        </p:nvSpPr>
        <p:spPr>
          <a:xfrm>
            <a:off x="0" y="3153475"/>
            <a:ext cx="12192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Hands-On time!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48640" y="169164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822960" y="1691640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RAG &gt; fine-tuning alone on L3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663440" y="1691640"/>
            <a:ext cx="6766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Advanced reasoning gains ~19 pts — retrieval provides the context fine-tuning can't encode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548640" y="2587752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822960" y="2587752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Retrieval is semantic, not keyword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663440" y="2587752"/>
            <a:ext cx="6766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BAAI/bge embeddings match meaning, not exact strings — robust to clinical paraphrasing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48640" y="348386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822960" y="3483864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Knowledge base design matters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663440" y="3483864"/>
            <a:ext cx="6766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 complementary datasets outperform a single monolithic corpus for diverse question types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548640" y="437997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822960" y="4379976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Local-first is viable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4663440" y="4379976"/>
            <a:ext cx="6766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ChromaDB + sentence-transformers run entirely on a free Colab T4 — no external service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548640" y="527608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822960" y="5276088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Update knowledge, not weights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4663440" y="5276088"/>
            <a:ext cx="6766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New clinical guideline? Add to the vector store. No retraining, no downtime.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4"/>
          <p:cNvSpPr/>
          <p:nvPr/>
        </p:nvSpPr>
        <p:spPr>
          <a:xfrm>
            <a:off x="640080" y="2194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Up Next: Modules 4–5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40080" y="2743200"/>
            <a:ext cx="100584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400"/>
              <a:buFont typeface="Cambria"/>
              <a:buNone/>
            </a:pPr>
            <a:r>
              <a:rPr lang="en-US" sz="34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Multi-Agent Systems</a:t>
            </a:r>
            <a:endParaRPr sz="34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400"/>
              <a:buFont typeface="Cambria"/>
              <a:buNone/>
            </a:pPr>
            <a:r>
              <a:rPr lang="en-US" sz="34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&amp; Agentic RAG</a:t>
            </a:r>
            <a:endParaRPr sz="34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640080" y="43434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We'll extend the RAG pipeline built here into a multi-agent orchestration system — a Triage Agent, Diagnostic Agent, and Treatment Agent — each specialised and sharing state, with the MediLearn eval measuring the cumulative lift.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4008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64008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274320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274320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 Fine-Tune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484632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484632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M3 RAG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694944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D3440"/>
          </a:solidFill>
          <a:ln w="12700" cap="flat" cmpd="sng">
            <a:solidFill>
              <a:srgbClr val="3D4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694944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M4–5 Agentic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9052560" y="5486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D3440"/>
          </a:solidFill>
          <a:ln w="12700" cap="flat" cmpd="sng">
            <a:solidFill>
              <a:srgbClr val="3D4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9052560" y="5486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M6 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3 · RETRIEVAL-AUGMENTED GENERATION WITH SLMs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</Words>
  <Application>Microsoft Office PowerPoint</Application>
  <PresentationFormat>Widescreen</PresentationFormat>
  <Paragraphs>199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Sanath R</cp:lastModifiedBy>
  <cp:revision>2</cp:revision>
  <dcterms:created xsi:type="dcterms:W3CDTF">2026-07-05T08:20:59Z</dcterms:created>
  <dcterms:modified xsi:type="dcterms:W3CDTF">2026-08-08T03:24:11Z</dcterms:modified>
</cp:coreProperties>
</file>