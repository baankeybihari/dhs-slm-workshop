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68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svoPM534Ifo8SYrjo2Bpgo4qF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tin Agarwal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8F95E4-D56A-48B1-A2BE-BB52B5479C5B}">
  <a:tblStyle styleId="{F68F95E4-D56A-48B1-A2BE-BB52B5479C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SmolLM-135M memory usage by precision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Memory (GB)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FP32
(full precision)</c:v>
                </c:pt>
                <c:pt idx="1">
                  <c:v>FP16
(half precision)</c:v>
                </c:pt>
                <c:pt idx="2">
                  <c:v>INT8
(8-bit)</c:v>
                </c:pt>
                <c:pt idx="3">
                  <c:v>NF4
(4-bit QLoRA)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0.27</c:v>
                </c:pt>
                <c:pt idx="2">
                  <c:v>0.13500000000000001</c:v>
                </c:pt>
                <c:pt idx="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9-405A-B457-1098DA4829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Term Coverage — Baseline vs Fine-Tuned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L1 Basic</c:v>
                </c:pt>
                <c:pt idx="1">
                  <c:v>L2 Clinical</c:v>
                </c:pt>
                <c:pt idx="2">
                  <c:v>L3 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</c:v>
                </c:pt>
                <c:pt idx="1">
                  <c:v>0.28000000000000003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30-4F53-889F-3FA276FF5A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(Epoch 11)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L1 Basic</c:v>
                </c:pt>
                <c:pt idx="1">
                  <c:v>L2 Clinical</c:v>
                </c:pt>
                <c:pt idx="2">
                  <c:v>L3 Advanced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</c:v>
                </c:pt>
                <c:pt idx="1">
                  <c:v>0.47</c:v>
                </c:pt>
                <c:pt idx="2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30-4F53-889F-3FA276FF5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8-02T10:41:11.957" idx="1">
    <p:pos x="345" y="979"/>
    <p:text>@mnitin3@gmail.com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ElYCsx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694afc3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f694afc36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3f694afc36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anathrajnaraya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light in the middle&#10;&#10;AI-generated content may be incorrect.">
            <a:extLst>
              <a:ext uri="{FF2B5EF4-FFF2-40B4-BE49-F238E27FC236}">
                <a16:creationId xmlns:a16="http://schemas.microsoft.com/office/drawing/2014/main" id="{7D8BAA25-BEF8-FD15-BDCC-5606CE45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B3424937-3A67-470E-B8E8-14C7E5AF39B2}"/>
              </a:ext>
            </a:extLst>
          </p:cNvPr>
          <p:cNvSpPr/>
          <p:nvPr/>
        </p:nvSpPr>
        <p:spPr>
          <a:xfrm>
            <a:off x="592920" y="1880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667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BF6E60B6-F86F-C13F-3C78-74B2BF51C6AF}"/>
              </a:ext>
            </a:extLst>
          </p:cNvPr>
          <p:cNvSpPr/>
          <p:nvPr/>
        </p:nvSpPr>
        <p:spPr>
          <a:xfrm>
            <a:off x="589320" y="1882920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667799"/>
                </a:solidFill>
                <a:latin typeface="Arial"/>
                <a:cs typeface="Arial"/>
              </a:rPr>
              <a:t>WORKSHOP</a:t>
            </a:r>
            <a:endParaRPr lang="en-US" sz="1150" b="1" kern="0" spc="200" dirty="0">
              <a:solidFill>
                <a:srgbClr val="1A8754"/>
              </a:solidFill>
              <a:latin typeface="Arial"/>
              <a:cs typeface="Arial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D1E8A9F6-C405-0EEE-E646-0C9F1DDE45B2}"/>
              </a:ext>
            </a:extLst>
          </p:cNvPr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buClr>
                <a:srgbClr val="F2F2F2"/>
              </a:buClr>
              <a:buSzPts val="44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Small Language Models: Fine Tuning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5FB6A1C-D9F3-30D2-8F5F-942183A996E9}"/>
              </a:ext>
            </a:extLst>
          </p:cNvPr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1FB6A6"/>
              </a:solidFill>
              <a:ea typeface="Calibri"/>
              <a:cs typeface="Calibri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326E244-8E2E-C4F5-23FF-FF150AEE2A91}"/>
              </a:ext>
            </a:extLst>
          </p:cNvPr>
          <p:cNvSpPr/>
          <p:nvPr/>
        </p:nvSpPr>
        <p:spPr>
          <a:xfrm>
            <a:off x="512064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SPEAKER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2CAA69A2-CCC7-87BC-BBE4-64415E33A69E}"/>
              </a:ext>
            </a:extLst>
          </p:cNvPr>
          <p:cNvSpPr/>
          <p:nvPr/>
        </p:nvSpPr>
        <p:spPr>
          <a:xfrm>
            <a:off x="506809" y="5036978"/>
            <a:ext cx="1064698" cy="30638"/>
          </a:xfrm>
          <a:prstGeom prst="rect">
            <a:avLst/>
          </a:prstGeom>
          <a:solidFill>
            <a:srgbClr val="667799"/>
          </a:solidFill>
          <a:ln>
            <a:solidFill>
              <a:srgbClr val="6677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626BBB6-3D51-C7BD-9970-6E777EB41769}"/>
              </a:ext>
            </a:extLst>
          </p:cNvPr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46" name="Text Footer Date">
            <a:extLst>
              <a:ext uri="{FF2B5EF4-FFF2-40B4-BE49-F238E27FC236}">
                <a16:creationId xmlns:a16="http://schemas.microsoft.com/office/drawing/2014/main" id="{3FF3F551-4B54-D322-12B0-9564AAEF34E7}"/>
              </a:ext>
            </a:extLst>
          </p:cNvPr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9AA4C0"/>
              </a:solidFill>
              <a:ea typeface="Calibri"/>
              <a:cs typeface="Calibri"/>
            </a:endParaRPr>
          </a:p>
        </p:txBody>
      </p:sp>
      <p:sp>
        <p:nvSpPr>
          <p:cNvPr id="48" name="Text Footer HxAI">
            <a:extLst>
              <a:ext uri="{FF2B5EF4-FFF2-40B4-BE49-F238E27FC236}">
                <a16:creationId xmlns:a16="http://schemas.microsoft.com/office/drawing/2014/main" id="{6C451574-F5BB-9285-BAF6-2B75B583628A}"/>
              </a:ext>
            </a:extLst>
          </p:cNvPr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>
              <a:solidFill>
                <a:srgbClr val="9AA4C0"/>
              </a:solidFill>
              <a:latin typeface="Arial"/>
              <a:cs typeface="Arial"/>
            </a:endParaRPr>
          </a:p>
        </p:txBody>
      </p:sp>
      <p:pic>
        <p:nvPicPr>
          <p:cNvPr id="50" name="Picture 49" descr="A black and white logo  AI-generated content may be incorrect.">
            <a:extLst>
              <a:ext uri="{FF2B5EF4-FFF2-40B4-BE49-F238E27FC236}">
                <a16:creationId xmlns:a16="http://schemas.microsoft.com/office/drawing/2014/main" id="{9E43B2A8-462F-4937-FAA5-C6E77C82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3" y="226513"/>
            <a:ext cx="3196169" cy="57782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2D9759D-184D-D9B4-F3AC-BBF121B52A94}"/>
              </a:ext>
            </a:extLst>
          </p:cNvPr>
          <p:cNvSpPr txBox="1"/>
          <p:nvPr/>
        </p:nvSpPr>
        <p:spPr>
          <a:xfrm>
            <a:off x="33300" y="0"/>
            <a:ext cx="399605" cy="59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Google Shape;18;p1">
            <a:extLst>
              <a:ext uri="{FF2B5EF4-FFF2-40B4-BE49-F238E27FC236}">
                <a16:creationId xmlns:a16="http://schemas.microsoft.com/office/drawing/2014/main" id="{F8D6EBA5-68D2-B2EE-F5E4-6BF9DDB053F5}"/>
              </a:ext>
            </a:extLst>
          </p:cNvPr>
          <p:cNvSpPr/>
          <p:nvPr/>
        </p:nvSpPr>
        <p:spPr>
          <a:xfrm>
            <a:off x="502922" y="517550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Sanathraj Narayan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0" name="Google Shape;22;p1">
            <a:extLst>
              <a:ext uri="{FF2B5EF4-FFF2-40B4-BE49-F238E27FC236}">
                <a16:creationId xmlns:a16="http://schemas.microsoft.com/office/drawing/2014/main" id="{5A4E8405-6966-81C1-E39E-0AE25ACF6803}"/>
              </a:ext>
            </a:extLst>
          </p:cNvPr>
          <p:cNvSpPr/>
          <p:nvPr/>
        </p:nvSpPr>
        <p:spPr>
          <a:xfrm>
            <a:off x="558133" y="5628275"/>
            <a:ext cx="249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4;p1">
            <a:extLst>
              <a:ext uri="{FF2B5EF4-FFF2-40B4-BE49-F238E27FC236}">
                <a16:creationId xmlns:a16="http://schemas.microsoft.com/office/drawing/2014/main" id="{8A348315-19FD-9F96-6EAD-37AD388C8CD6}"/>
              </a:ext>
            </a:extLst>
          </p:cNvPr>
          <p:cNvSpPr/>
          <p:nvPr/>
        </p:nvSpPr>
        <p:spPr>
          <a:xfrm>
            <a:off x="502922" y="5628275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Manager, Lam Research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14" name="Google Shape;25;p1">
            <a:extLst>
              <a:ext uri="{FF2B5EF4-FFF2-40B4-BE49-F238E27FC236}">
                <a16:creationId xmlns:a16="http://schemas.microsoft.com/office/drawing/2014/main" id="{5F00579E-DC29-C026-9AAC-E96F266715E1}"/>
              </a:ext>
            </a:extLst>
          </p:cNvPr>
          <p:cNvSpPr/>
          <p:nvPr/>
        </p:nvSpPr>
        <p:spPr>
          <a:xfrm>
            <a:off x="3394542" y="520032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Nitin Agarwal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6" name="Google Shape;26;p1">
            <a:extLst>
              <a:ext uri="{FF2B5EF4-FFF2-40B4-BE49-F238E27FC236}">
                <a16:creationId xmlns:a16="http://schemas.microsoft.com/office/drawing/2014/main" id="{75B2A7F8-945D-1FFE-0DE5-42933FFE08C7}"/>
              </a:ext>
            </a:extLst>
          </p:cNvPr>
          <p:cNvSpPr/>
          <p:nvPr/>
        </p:nvSpPr>
        <p:spPr>
          <a:xfrm>
            <a:off x="3394550" y="5653100"/>
            <a:ext cx="370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Principal Data Scientist, Atlassian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4" name="Google Shape;20;p1">
            <a:extLst>
              <a:ext uri="{FF2B5EF4-FFF2-40B4-BE49-F238E27FC236}">
                <a16:creationId xmlns:a16="http://schemas.microsoft.com/office/drawing/2014/main" id="{812B9F6B-7AE8-5969-5259-62FBC1F8EAE8}"/>
              </a:ext>
            </a:extLst>
          </p:cNvPr>
          <p:cNvSpPr/>
          <p:nvPr/>
        </p:nvSpPr>
        <p:spPr>
          <a:xfrm>
            <a:off x="502920" y="298878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Fine-tune SmolLM-135M on medical flashcards using </a:t>
            </a:r>
            <a:r>
              <a:rPr lang="en-US" sz="1400" b="0" i="0" u="none" strike="noStrike" cap="none" dirty="0" err="1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QLoRA</a:t>
            </a:r>
            <a:r>
              <a:rPr lang="en-US" sz="1400" b="0" i="0" u="none" strike="noStrike" cap="none" dirty="0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, run one extra epoch on top of a published 10-epoch adapter, and measure the exact improvement on the shared 60-question </a:t>
            </a:r>
            <a:r>
              <a:rPr lang="en-US" sz="1400" b="0" i="0" u="none" strike="noStrike" cap="none" dirty="0" err="1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MediLearn</a:t>
            </a:r>
            <a:r>
              <a:rPr lang="en-US" sz="1400" b="0" i="0" u="none" strike="noStrike" cap="none" dirty="0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 eval set.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996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691640"/>
            <a:ext cx="2194560" cy="3931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58368" y="189280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3392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58368" y="2587752"/>
            <a:ext cx="17922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Why Fine-Tune?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" y="3246120"/>
            <a:ext cx="179222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LoRA philosophy, dataset anatomy, the 0.15% trick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807208" y="1691640"/>
            <a:ext cx="2194560" cy="3931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008376" y="189280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3008376" y="2587752"/>
            <a:ext cx="17922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Quantization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008376" y="3246120"/>
            <a:ext cx="179222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4-bit NF4 + BitsAndBytes: half the memory, near-zero accuracy loss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57216" y="1691640"/>
            <a:ext cx="2194560" cy="3931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358384" y="189280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3408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358384" y="2587752"/>
            <a:ext cx="17922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Training Config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58384" y="3246120"/>
            <a:ext cx="179222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QLoRA hyperparameters verbatim from the HF model card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507224" y="1691640"/>
            <a:ext cx="2194560" cy="3931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708392" y="189280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3416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7708392" y="2587752"/>
            <a:ext cx="17922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Hands-On Training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08392" y="3246120"/>
            <a:ext cx="179222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epoch 11 on T4 — watch loss curve live in ~20 min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857232" y="1691640"/>
            <a:ext cx="2194560" cy="3931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0058400" y="189280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393424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0058400" y="2587752"/>
            <a:ext cx="17922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Evaluation &amp; Lift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058400" y="3246120"/>
            <a:ext cx="179222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Before/after on the MediLearn 60-Q set, tier-by-tier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Module 2 in Context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established a baseline score on the 60-question MediLearn set using the raw, untrained SmolLM-135M. This module fine-tunes it — and the merged model we produce here is the one every later module loads.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89560" y="29489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89560" y="301294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Baseline SLM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89560" y="36073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established here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9256" y="32964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2667000" y="29489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667000" y="301294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Fine-Tune (QLoRA)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667000" y="36073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6696" y="32964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5044440" y="29489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044440" y="301294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44440" y="36073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Loads merged 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4136" y="32964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7421880" y="29489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421880" y="301294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421880" y="36073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Loads merged 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1576" y="32964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9799320" y="29489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9799320" y="301294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Edge / GGUF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799320" y="36073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Loads merged 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is LoRA?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155448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Low-Rank Adaptation (LoRA) freezes the original model weights and injects tiny trainable matrices into the attention layers. The net effect: you train &lt; 1% of parameters at a fractio</a:t>
            </a: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n of the cost.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05947" y="2807143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364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05947" y="2807143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 Weights 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(135M params — FROZEN)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069187" y="3310063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26400" y="2807148"/>
            <a:ext cx="3246000" cy="64020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609963" y="2829936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lang="en-US" sz="20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26387" y="3520375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~200K params (TRAINABLE)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26387" y="3812983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 r = 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7543907" y="3520375"/>
            <a:ext cx="457200" cy="0"/>
          </a:xfrm>
          <a:prstGeom prst="straightConnector1">
            <a:avLst/>
          </a:prstGeom>
          <a:noFill/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4"/>
          <p:cNvSpPr/>
          <p:nvPr/>
        </p:nvSpPr>
        <p:spPr>
          <a:xfrm>
            <a:off x="7589627" y="3310063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138267" y="2807143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138267" y="2807143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Fine-tuned behaviour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(domain adapted)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47731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1234440" y="47548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 dirty="0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~40 min on free T4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77240" y="5230368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epoch on medical_meadow_flashcards with rank-16 LoRA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25196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47731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4937760" y="47548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0.15% of params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480560" y="5230368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the A·B adapter matrices are updated — base stays frozen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95528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3880" y="47731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8641080" y="47548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Composable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183880" y="5230368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Save only the tiny adapter delta — merge before production hand-off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Quantization: 4-bit NF4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 FP32 model weights use 4 bytes per parameter. 4-bit NF4 quantization uses 0.5 bytes per parameter — enabling a 135M model to run in &lt; 0.5 GB GPU memory.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5"/>
          <p:cNvGraphicFramePr/>
          <p:nvPr/>
        </p:nvGraphicFramePr>
        <p:xfrm>
          <a:off x="548640" y="246888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4" name="Google Shape;134;p5"/>
          <p:cNvSpPr/>
          <p:nvPr/>
        </p:nvSpPr>
        <p:spPr>
          <a:xfrm>
            <a:off x="6766560" y="24688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995160" y="25420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is NF4?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995160" y="287121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NormalFloat4 — a 4-bit data type optimised for normally-distributed weights. Preserves weight distribution shape far better than standard INT4.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766560" y="35204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995160" y="3593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Double Quantization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995160" y="392277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BitsAndBytes also quantizes the quantization constants themselves, saving an extra ~0.37 bits per parameter.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766560" y="45720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995160" y="46451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Compute dtype = BF16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995160" y="497433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Adapter gradients and activations use BF16 during training — only the frozen base weights are stored in NF4.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Training Dataset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" name="Google Shape;153;p6" descr="preencoded.png"/>
          <p:cNvPicPr preferRelativeResize="0"/>
          <p:nvPr/>
        </p:nvPicPr>
        <p:blipFill rotWithShape="1">
          <a:blip r:embed="rId3">
            <a:alphaModFix/>
            <a:lum bright="70000" contrast="-70000"/>
          </a:blip>
          <a:srcRect/>
          <a:stretch/>
        </p:blipFill>
        <p:spPr>
          <a:xfrm>
            <a:off x="822960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1371600" y="175564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medalpaca/medical_meadow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_medical_flashcards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22960" y="265176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~33,000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22960" y="298094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Q&amp;A pairs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347472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Anki flashcard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2960" y="380390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format — instruction / response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2960" y="429768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Medical licensing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22960" y="462686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exam coverage (USMLE style)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22960" y="51206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Free / public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22960" y="54498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on HuggingFace Hub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080760" y="15544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309360" y="17556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Sample training pair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263640" y="2240280"/>
            <a:ext cx="5257800" cy="1691640"/>
          </a:xfrm>
          <a:prstGeom prst="roundRect">
            <a:avLst>
              <a:gd name="adj" fmla="val 270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446520" y="2359152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Instruction: </a:t>
            </a: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What is the mechanism of action of metformin?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Output: </a:t>
            </a: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Metformin decreases hepatic glucose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production and improves insulin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sensitivity in peripheral tissues.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309360" y="40690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Why this dataset works: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45079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6675120" y="44805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Concise answers → matches SLM output length limits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49651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6675120" y="49377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Clear instruction/output split → easy chat-template formatting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54223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6675120" y="53949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USMLE coverage aligns with MediLearn 60-Q eval categories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2 · CONFIG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Training Configuration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All hyperparameters are copied verbatim from the published 10-epoch HuggingFace model card — nothing changed. We simply run one additional epoch on top.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LoRA Config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2697480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31520" y="2743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 (rank)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834640" y="2743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31520" y="30815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Adapter matrix rank — trade-off: higher = more capacity, more memory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3502152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222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31520" y="354787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lora_alpha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834640" y="35478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31520" y="38862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Scaling factor; α/r = 2 means full strength injection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48640" y="4306824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31520" y="435254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target_modules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834640" y="435254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q_proj, v_proj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31520" y="46908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Only query and value attention projections are adapted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5111496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222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31520" y="515721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lora_dropout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834640" y="51572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0.05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31520" y="54955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Light regularisation to prevent overfitting on ~33K pairs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00800" y="2240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Training Args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00800" y="2697480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583680" y="2743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num_epochs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686800" y="2743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1 (+ ep 10)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583680" y="3081528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One additional epoch on top of the published adapter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00800" y="3502152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222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583680" y="354787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per_device_batch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686800" y="35478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583680" y="38862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Fits T4 VRAM with NF4 base weights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400800" y="4306824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583680" y="435254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grad_accum_steps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0" y="435254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583680" y="46908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Effective batch = 16 without extra VRAM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400800" y="5111496"/>
            <a:ext cx="5486400" cy="749808"/>
          </a:xfrm>
          <a:prstGeom prst="roundRect">
            <a:avLst>
              <a:gd name="adj" fmla="val 6098"/>
            </a:avLst>
          </a:prstGeom>
          <a:solidFill>
            <a:srgbClr val="222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583680" y="515721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learning_rate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6800" y="51572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2e-4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583680" y="54955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Standard for LoRA continued training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3 · HANDS-ON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Environment Setup — Why We Pin Versions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trl / transformers / peft ecosystem moves fast and breaks compatibility. Module 2 pins a known-good set that matches the original training run.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8"/>
          <p:cNvGraphicFramePr/>
          <p:nvPr>
            <p:extLst>
              <p:ext uri="{D42A27DB-BD31-4B8C-83A1-F6EECF244321}">
                <p14:modId xmlns:p14="http://schemas.microsoft.com/office/powerpoint/2010/main" val="2624904426"/>
              </p:ext>
            </p:extLst>
          </p:nvPr>
        </p:nvGraphicFramePr>
        <p:xfrm>
          <a:off x="548640" y="2286000"/>
          <a:ext cx="8046700" cy="2926000"/>
        </p:xfrm>
        <a:graphic>
          <a:graphicData uri="http://schemas.openxmlformats.org/drawingml/2006/table">
            <a:tbl>
              <a:tblPr>
                <a:noFill/>
                <a:tableStyleId>{F68F95E4-D56A-48B1-A2BE-BB52B5479C5B}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8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Pinned version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matters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transformers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4.47.1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trl ≥ 0.13 requires this exact minor version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peft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0.14.0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LoRA API stable at this version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trl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0.13.0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SFTTrainer / Trainer interface used by the training cell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2.21.0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Avoids breaking changes in map() / filter() API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accelerate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1.2.1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Matches Trainer distributed training expectations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tokenizers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0.21.0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 to transformers — mismatches crash on import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9" name="Google Shape;229;p8"/>
          <p:cNvSpPr/>
          <p:nvPr/>
        </p:nvSpPr>
        <p:spPr>
          <a:xfrm>
            <a:off x="8869680" y="22860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8" descr="preencoded.png"/>
          <p:cNvPicPr preferRelativeResize="0"/>
          <p:nvPr/>
        </p:nvPicPr>
        <p:blipFill rotWithShape="1">
          <a:blip r:embed="rId3">
            <a:alphaModFix/>
            <a:lum bright="70000" contrast="-70000"/>
          </a:blip>
          <a:srcRect/>
          <a:stretch/>
        </p:blipFill>
        <p:spPr>
          <a:xfrm>
            <a:off x="9098280" y="25146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9098280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Kernel Restart Required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098280" y="3401568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Cell 1b calls os.kill() to auto-restart after install. This is intentional — don't re-run the install cells after restart.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3 · HANDS-ON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Fine-Tuning Pipeline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2011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3" name="Google Shape;24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212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548640" y="27889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Load Base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SmolLM-135M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48640" y="34015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 NF4 (4-bit)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4288" y="2816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2670048" y="2011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8" name="Google Shape;24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5848" y="2212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2761488" y="27889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Load </a:t>
            </a: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PEFT Adapter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761488" y="34015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HuggingFace Hub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7136" y="2816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/>
          <p:nvPr/>
        </p:nvSpPr>
        <p:spPr>
          <a:xfrm>
            <a:off x="4882896" y="2011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68696" y="2212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4974336" y="27889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Load Dataset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974336" y="34015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~33K Q&amp;A pairs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9984" y="2816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7095744" y="2011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Google Shape;258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81544" y="2212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/>
          <p:nvPr/>
        </p:nvSpPr>
        <p:spPr>
          <a:xfrm>
            <a:off x="7187184" y="27889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Run HF Trainer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Epoch </a:t>
            </a:r>
            <a:r>
              <a:rPr lang="en-US" sz="115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187184" y="34015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~40 min on T4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2832" y="2816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9308592" y="2011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94392" y="2212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/>
          <p:nvPr/>
        </p:nvSpPr>
        <p:spPr>
          <a:xfrm>
            <a:off x="9400032" y="27889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Save Adapter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./smollm_epoch11/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400032" y="34015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 Colab disk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6" name="Google Shape;266;p9"/>
          <p:cNvGrpSpPr/>
          <p:nvPr/>
        </p:nvGrpSpPr>
        <p:grpSpPr>
          <a:xfrm>
            <a:off x="9326216" y="4407398"/>
            <a:ext cx="1828800" cy="2016157"/>
            <a:chOff x="11521440" y="2212848"/>
            <a:chExt cx="1828800" cy="2016157"/>
          </a:xfrm>
        </p:grpSpPr>
        <p:sp>
          <p:nvSpPr>
            <p:cNvPr id="267" name="Google Shape;267;p9"/>
            <p:cNvSpPr/>
            <p:nvPr/>
          </p:nvSpPr>
          <p:spPr>
            <a:xfrm>
              <a:off x="11521440" y="2400205"/>
              <a:ext cx="1828800" cy="1828800"/>
            </a:xfrm>
            <a:prstGeom prst="roundRect">
              <a:avLst>
                <a:gd name="adj" fmla="val 4000"/>
              </a:avLst>
            </a:prstGeom>
            <a:solidFill>
              <a:srgbClr val="16A34A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8" name="Google Shape;268;p9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207240" y="221284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9"/>
            <p:cNvSpPr/>
            <p:nvPr/>
          </p:nvSpPr>
          <p:spPr>
            <a:xfrm>
              <a:off x="11612880" y="2788920"/>
              <a:ext cx="16459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150"/>
                <a:buFont typeface="Calibri"/>
                <a:buNone/>
              </a:pPr>
              <a:r>
                <a:rPr lang="en-US" sz="115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Merge &amp; Save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150"/>
                <a:buFont typeface="Calibri"/>
                <a:buNone/>
              </a:pPr>
              <a:r>
                <a:rPr lang="en-US" sz="115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to Drive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11612880" y="3401568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merged standalone model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10131557" y="4032502"/>
            <a:ext cx="18288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Section 8: Fine-Tuned Results — Epoch 11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60 questions, same scoring code, same hardware — only the model changed. Scores are measured while the adapter is still live (before merging).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11"/>
          <p:cNvGraphicFramePr/>
          <p:nvPr/>
        </p:nvGraphicFramePr>
        <p:xfrm>
          <a:off x="548640" y="228600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4" name="Google Shape;304;p11"/>
          <p:cNvSpPr/>
          <p:nvPr/>
        </p:nvSpPr>
        <p:spPr>
          <a:xfrm>
            <a:off x="7863840" y="2286000"/>
            <a:ext cx="411480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8065008" y="23591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L1 Term Coverage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881360" y="235915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16A34A"/>
                </a:solidFill>
                <a:latin typeface="Cambria"/>
                <a:ea typeface="Cambria"/>
                <a:cs typeface="Cambria"/>
                <a:sym typeface="Cambria"/>
              </a:rPr>
              <a:t>+19 pts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065008" y="2706624"/>
            <a:ext cx="3712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Basic recall gains most — domain vocab locked 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7863840" y="3182112"/>
            <a:ext cx="411480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8065008" y="325526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L2 Clinical Scenario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0881360" y="32552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16A34A"/>
                </a:solidFill>
                <a:latin typeface="Cambria"/>
                <a:ea typeface="Cambria"/>
                <a:cs typeface="Cambria"/>
                <a:sym typeface="Cambria"/>
              </a:rPr>
              <a:t>+19 pts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065008" y="3602736"/>
            <a:ext cx="3712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Guideline-style answers now structured correctly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7863840" y="4078224"/>
            <a:ext cx="411480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8065008" y="41513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L3 Advanced Reasoning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0881360" y="415137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16A34A"/>
                </a:solidFill>
                <a:latin typeface="Cambria"/>
                <a:ea typeface="Cambria"/>
                <a:cs typeface="Cambria"/>
                <a:sym typeface="Cambria"/>
              </a:rPr>
              <a:t>+14 pts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065008" y="4498848"/>
            <a:ext cx="3712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Still hardest; RAG (M3) will close this gap further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7863840" y="4974336"/>
            <a:ext cx="411480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8065008" y="50474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Response Style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0881360" y="50474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16A34A"/>
                </a:solidFill>
                <a:latin typeface="Cambria"/>
                <a:ea typeface="Cambria"/>
                <a:cs typeface="Cambria"/>
                <a:sym typeface="Cambria"/>
              </a:rPr>
              <a:t>✓ Concise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065008" y="5394960"/>
            <a:ext cx="3712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Flashcard-style answers — shorter, denser, on-topic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Qualitative Analysis — What Actually Changed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2"/>
          <p:cNvGraphicFramePr/>
          <p:nvPr/>
        </p:nvGraphicFramePr>
        <p:xfrm>
          <a:off x="548640" y="1600200"/>
          <a:ext cx="11064250" cy="4114800"/>
        </p:xfrm>
        <a:graphic>
          <a:graphicData uri="http://schemas.openxmlformats.org/drawingml/2006/table">
            <a:tbl>
              <a:tblPr>
                <a:noFill/>
                <a:tableStyleId>{F68F95E4-D56A-48B1-A2BE-BB52B5479C5B}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SmolLM-135M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Fine-Tuned (Epoch 11)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Often medically wrong; confuses domain terminology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Stays in clinical domain; occasional specific-fact errors remain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Completeness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Verbose yet evasive — talks around the question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Concise flashcard-style: leads with the answer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Heavy markdown bullets, headers, padding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1–3 sentence response matching training format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Hedging language; overly caveated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Definitive answers matching medical flashcard convention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L3 Reasoning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Near-random; misses key clinical terms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Structurally correct answers; factual precision still improves with RAG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0" name="Google Shape;330;p12"/>
          <p:cNvSpPr/>
          <p:nvPr/>
        </p:nvSpPr>
        <p:spPr>
          <a:xfrm>
            <a:off x="548640" y="58521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" name="Google Shape;33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59893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1188720" y="5943600"/>
            <a:ext cx="101498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Key insight: fine-tuning teaches how to answer (style, brevity, domain focus) before it improves what to answer (specific factual accuracy). Style comes first.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694afc36f_0_0"/>
          <p:cNvSpPr/>
          <p:nvPr/>
        </p:nvSpPr>
        <p:spPr>
          <a:xfrm>
            <a:off x="0" y="3153475"/>
            <a:ext cx="12192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Hands-On time!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3" name="Google Shape;373;p15"/>
          <p:cNvSpPr/>
          <p:nvPr/>
        </p:nvSpPr>
        <p:spPr>
          <a:xfrm>
            <a:off x="822960" y="1691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5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Fine-tuning = style first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251960" y="1691640"/>
            <a:ext cx="7178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4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Domain focus and response format improve faster than specific factual accuracy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6" name="Google Shape;376;p15"/>
          <p:cNvSpPr/>
          <p:nvPr/>
        </p:nvSpPr>
        <p:spPr>
          <a:xfrm>
            <a:off x="822960" y="25603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5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0.15% params, full impact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251960" y="2560320"/>
            <a:ext cx="7178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4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LoRA adapts only the A·B matrices — the base stays frozen and reusable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9" name="Google Shape;379;p15"/>
          <p:cNvSpPr/>
          <p:nvPr/>
        </p:nvSpPr>
        <p:spPr>
          <a:xfrm>
            <a:off x="822960" y="342900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5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4-bit NF4 is the enabler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251960" y="3429000"/>
            <a:ext cx="7178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4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Without quantization, continued training would exceed free-tier VRAM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2" name="Google Shape;382;p15"/>
          <p:cNvSpPr/>
          <p:nvPr/>
        </p:nvSpPr>
        <p:spPr>
          <a:xfrm>
            <a:off x="822960" y="4297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5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Merge before shipping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251960" y="4297680"/>
            <a:ext cx="7178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4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Always merge_and_unload() before passing the model to the next stage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5" name="Google Shape;385;p15"/>
          <p:cNvSpPr/>
          <p:nvPr/>
        </p:nvSpPr>
        <p:spPr>
          <a:xfrm>
            <a:off x="822960" y="51663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5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The floor just moved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251960" y="5166360"/>
            <a:ext cx="7178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4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Every subsequent module measures lift against these fine-tuned scores — not M1's baseline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303300" y="1561775"/>
            <a:ext cx="11793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16" descr="preencoded.png"/>
          <p:cNvPicPr preferRelativeResize="0"/>
          <p:nvPr/>
        </p:nvPicPr>
        <p:blipFill rotWithShape="1"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/>
          <p:nvPr/>
        </p:nvSpPr>
        <p:spPr>
          <a:xfrm>
            <a:off x="64008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Up Next: Module 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Retrieval-Augmented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Generation (RAG) with SLMs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4008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64008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274320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274320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 Fine-Tune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84632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84632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M3 RAG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94944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94944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M4–5 Agentic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905256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905256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M6 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62B33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Section 8.1: Merge Adapter → Drive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This is the most consequential cell in the workshop. Skip it and Modules 3, 4–5, and 6 silently load the un-fine-tuned base model with no error message.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23317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822960" y="25146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Step 1: fold adapter into base weights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merged_model = ft_model.merge_and_unload()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Step 2: save standalone model to Drive (path Modules 3/4/6 load)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merged_model.save_pretrained(MERGED_MODEL_DIR)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ft_tokenizer.save_pretrained(MERGED_MODEL_DIR)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94360" y="434340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051560" y="43434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merge_and_unload()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3977640" y="436168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Folds the LoRA A·B delta into W permanently — no PEFT dependency in the output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594360" y="484632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051560" y="48463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MERGED_MODEL_DIR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977640" y="486460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/content/drive/MyDrive/SLM Workshop/medical_slm_finetuned/ — hardcoded in every downstream module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94360" y="534924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051560" y="53492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config.json check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3977640" y="536752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Notebook asserts config.json exists in the output — catches Drive mount failures early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94360" y="585216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051560" y="58521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ourier New"/>
                <a:ea typeface="Courier New"/>
                <a:cs typeface="Courier New"/>
                <a:sym typeface="Courier New"/>
              </a:rPr>
              <a:t>Order matters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977640" y="587044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Evaluate first (Section 8), then merge — merge_and_unload() breaks the PEFT container for further inference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2 · QUANTIZATION &amp; QLORA FINE-TUNING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1539</Words>
  <Application>Microsoft Office PowerPoint</Application>
  <PresentationFormat>Widescreen</PresentationFormat>
  <Paragraphs>282</Paragraphs>
  <Slides>15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SLM Workshop</dc:creator>
  <cp:lastModifiedBy>Nitin Agarwal</cp:lastModifiedBy>
  <cp:revision>1</cp:revision>
  <dcterms:created xsi:type="dcterms:W3CDTF">2026-07-01T11:30:49Z</dcterms:created>
  <dcterms:modified xsi:type="dcterms:W3CDTF">2026-08-07T18:00:03Z</dcterms:modified>
</cp:coreProperties>
</file>