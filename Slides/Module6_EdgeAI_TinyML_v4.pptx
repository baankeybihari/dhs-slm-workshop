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ZBdm2R62e/n/6qXLjoDYjjBIP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29D768-0F3B-4A6A-B1B9-6E6636743150}">
  <a:tblStyle styleId="{AE29D768-0F3B-4A6A-B1B9-6E66367431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Why GGUF for Edge AI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GGUF (GPT-Generated Unified Format) is a file format built specifically for efficient inference on constrained hardware: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Single-file packaging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model weights, tokenizer, and metadata bundled together — no separate config files or dependencies to manage on a device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Cross-platform portability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same .gguf file runs on Raspberry Pi, phones, microcontrollers-class boards, laptops, etc., via llama.cpp bindings 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Why Q4_K_M specifically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Q4_K_M is a 4-bit quantization scheme with mixed precision blocks (the "K" variants use grouped/block-wise quantization with better scale handling than naive Q4_0):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Factor	Benefit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Size reduction	~4x smaller than FP16, ~2x smaller than 8-bit — often the difference between a model fitting in a device's RAM or not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b8af61fe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8b8af61fe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8b8af61fe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blue logo&#10;&#10;AI-generated content may be incorrect.">
            <a:extLst>
              <a:ext uri="{FF2B5EF4-FFF2-40B4-BE49-F238E27FC236}">
                <a16:creationId xmlns:a16="http://schemas.microsoft.com/office/drawing/2014/main" id="{A9C22F50-85D4-FFF5-3E69-AD9518B1B4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82550" y="609889"/>
            <a:ext cx="2605548" cy="49793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light in the middl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 2"/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>
              <a:lnSpc>
                <a:spcPct val="105000"/>
              </a:lnSpc>
              <a:buClr>
                <a:srgbClr val="F2F2F2"/>
              </a:buClr>
              <a:buSzPts val="38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Edge AI &amp; </a:t>
            </a:r>
            <a:r>
              <a:rPr lang="en-US" sz="3200" b="1" dirty="0" err="1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TinyML</a:t>
            </a: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5000"/>
              </a:lnSpc>
              <a:buClr>
                <a:srgbClr val="F2F2F2"/>
              </a:buClr>
              <a:buSzPts val="38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Deploying SLMs Beyond the Cloud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1FB6A6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506809" y="5036978"/>
            <a:ext cx="1064698" cy="30638"/>
          </a:xfrm>
          <a:prstGeom prst="rect">
            <a:avLst/>
          </a:prstGeom>
          <a:solidFill>
            <a:srgbClr val="FE7202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7"/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" name="Text Footer Date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9AA4C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" name="Text Footer HxAI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>
              <a:solidFill>
                <a:srgbClr val="9AA4C0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0" name="Picture 49" descr="A black and white logo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3" y="226513"/>
            <a:ext cx="3196169" cy="5778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3300" y="0"/>
            <a:ext cx="399605" cy="59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MODULE 6 ROADMAP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267973" y="1729040"/>
            <a:ext cx="1828800" cy="3931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432565" y="1911920"/>
            <a:ext cx="1005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1557" y="1930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432565" y="2533712"/>
            <a:ext cx="1499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Why Edge Deployment?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32565" y="3118928"/>
            <a:ext cx="14997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Privacy, cost, latency, and offline-first use cases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24789" y="1729040"/>
            <a:ext cx="1828800" cy="3931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389381" y="1911920"/>
            <a:ext cx="1005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8373" y="1930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389381" y="2533712"/>
            <a:ext cx="1499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GGUF &amp; llama.cpp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389381" y="3118928"/>
            <a:ext cx="14997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GGUF is, why it's the edge standard, build toolchain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181605" y="1729040"/>
            <a:ext cx="1828800" cy="3931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46197" y="1911920"/>
            <a:ext cx="1005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5189" y="1930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5346197" y="2533712"/>
            <a:ext cx="1499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Convert → Quantize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346197" y="3118928"/>
            <a:ext cx="14997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HF model → GGUF F16 → Q4_K_M in 3 commands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8421" y="1729040"/>
            <a:ext cx="1828800" cy="3931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303013" y="1911920"/>
            <a:ext cx="1005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5" y="1930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7303013" y="2533712"/>
            <a:ext cx="1499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CPU Inference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03013" y="3118928"/>
            <a:ext cx="14997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quantized model locally via llama-cli subprocess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095237" y="1729040"/>
            <a:ext cx="1828800" cy="3931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259829" y="1911920"/>
            <a:ext cx="1005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8821" y="1930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9259829" y="2533712"/>
            <a:ext cx="1499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Full-Precision vs Q4_K_M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259829" y="3118928"/>
            <a:ext cx="14997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60-Q eval: accuracy and latency trade-off measured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WORKSHOP ARC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Module 6 — Closing the Loop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15727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is the final deployment stage of the same model lineage started in Module 1. The fine-tuned model from Module 2 is exported here. The same 60-question set run in every previous module runs again — now on a quantized edge binary.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26974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48640" y="2770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7480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2926080" y="26974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926080" y="2770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Fine-Tune 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4920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5303520" y="26974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303520" y="2770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RAG 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2360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7680960" y="26974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680960" y="2770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M4–5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Agentic 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800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10058400" y="26974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0058400" y="2770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Edge GGUF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058400" y="3355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← You are here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39776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42245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1298448" y="418795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What Module 6 loads from Drive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22960" y="4590288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medical_slm_finetuned/ — Module 2's merged model.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263640" y="39776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7960" y="42245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7022592" y="418795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mbria"/>
                <a:ea typeface="Cambria"/>
                <a:cs typeface="Cambria"/>
                <a:sym typeface="Cambria"/>
              </a:rPr>
              <a:t>What Module 6 produces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537960" y="4590288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medilearn_q4_k_m.gguf (~100 MB) — downloadable to your laptop.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Why Deploy SLMs to the Edge?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5727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Cloud inference is convenient for development — but production medical AI has constraints that make edge deployment essential in many real-world settings.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24231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48640" y="2423160"/>
            <a:ext cx="2651760" cy="914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27157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731520" y="3429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Data Privacy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31520" y="393192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Patient data never leaves the device. No PHI sent to an external API. Critical for HIPAA/GDPR compliance in clinical settings.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383280" y="24231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383280" y="2423160"/>
            <a:ext cx="2651760" cy="914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4840" y="27157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3566160" y="3429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Latency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566160" y="393192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network round-trip. Sub-second first-token latency on modern CPUs. Essential for real-time decision support at the bedside.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17920" y="24231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217920" y="2423160"/>
            <a:ext cx="2651760" cy="914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9480" y="27157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6400800" y="3429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Cost at Scale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400800" y="393192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API tokens add up fast at 60K+ queries/day. A local GGUF binary costs nothing to query — the hardware is already there.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052560" y="24231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052560" y="2423160"/>
            <a:ext cx="2651760" cy="914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04120" y="27157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9235440" y="3429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Offline-First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235440" y="393192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Rural clinics, field hospitals, disconnected devices. A GGUF model works with zero internet — the cloud doesn't.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2 · CONCEPTS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GGUF — The Edge-Deployment Standard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157276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GGUF (</a:t>
            </a: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GPT-Generated Unified Format</a:t>
            </a: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) is a single-file binary format for language model weights + tokenizer + metadata. It's the community standard for local inference — supported by llama.cpp, Ollama, </a:t>
            </a:r>
            <a:r>
              <a:rPr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other runtimes.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256032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72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1325880" y="277063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50"/>
              <a:buFont typeface="Cambria"/>
              <a:buNone/>
            </a:pPr>
            <a:r>
              <a:rPr lang="en-US" sz="135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What's inside a .gguf file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04672" y="336499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078992" y="32735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Model weights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834640" y="32735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Quantized to chosen precision (Q4_K_M in this module)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4672" y="386791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078992" y="377647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Tokenizer vocab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834640" y="37764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BPE vocabulary + merge rules — no HuggingFace dependency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04672" y="437083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78992" y="42793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Model metadata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834640" y="42793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Architecture, context length, rope params — everything self-contained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04672" y="487375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78992" y="478231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Chat template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834640" y="478231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Prompt format embedded — no separate config.json needed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04672" y="566928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 i="1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One file. Zero dependencies. Works on CPU.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5"/>
          <p:cNvGraphicFramePr/>
          <p:nvPr>
            <p:extLst>
              <p:ext uri="{D42A27DB-BD31-4B8C-83A1-F6EECF244321}">
                <p14:modId xmlns:p14="http://schemas.microsoft.com/office/powerpoint/2010/main" val="4278665577"/>
              </p:ext>
            </p:extLst>
          </p:nvPr>
        </p:nvGraphicFramePr>
        <p:xfrm>
          <a:off x="5852160" y="2560320"/>
          <a:ext cx="6086411" cy="2606000"/>
        </p:xfrm>
        <a:graphic>
          <a:graphicData uri="http://schemas.openxmlformats.org/drawingml/2006/table">
            <a:tbl>
              <a:tblPr>
                <a:noFill/>
                <a:tableStyleId>{AE29D768-0F3B-4A6A-B1B9-6E6636743150}</a:tableStyleId>
              </a:tblPr>
              <a:tblGrid>
                <a:gridCol w="124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 loss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when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F16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~270 MB*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only — conversion step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Q8_0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~145 MB*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 allows, quality critical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Q4_K_M ★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~100 MB*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sz="1150" b="1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 tradeoff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Q4_0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~90 MB*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constrained RAM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5"/>
          <p:cNvSpPr/>
          <p:nvPr/>
        </p:nvSpPr>
        <p:spPr>
          <a:xfrm>
            <a:off x="5852160" y="525780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Sizes for SmolLM-135M. Larger models (1.7B) are ~7× bigger.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852160" y="5650992"/>
            <a:ext cx="580644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035040" y="5650992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Q4_K_M = 4-bit weights with K-quant medium block grouping — preserves weight distribution much better than naive INT4 rounding.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b8af61fe0_0_1"/>
          <p:cNvSpPr/>
          <p:nvPr/>
        </p:nvSpPr>
        <p:spPr>
          <a:xfrm>
            <a:off x="0" y="3153475"/>
            <a:ext cx="12192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Hands-On time!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3 · CONVERSION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Sections 3–6: HF Model → GGUF F16 → Q4_K_M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48640" y="157276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sequential steps — each a single subprocess call. The total pipeline takes ~8–10 minutes end-to-end on a Colab free-tier CPU.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2F7107-2853-AB84-B629-D5DDED07BB2F}"/>
              </a:ext>
            </a:extLst>
          </p:cNvPr>
          <p:cNvGrpSpPr/>
          <p:nvPr/>
        </p:nvGrpSpPr>
        <p:grpSpPr>
          <a:xfrm>
            <a:off x="502920" y="2423160"/>
            <a:ext cx="11231575" cy="2011680"/>
            <a:chOff x="502920" y="2423160"/>
            <a:chExt cx="11686032" cy="2011680"/>
          </a:xfrm>
        </p:grpSpPr>
        <p:sp>
          <p:nvSpPr>
            <p:cNvPr id="163" name="Google Shape;163;p6"/>
            <p:cNvSpPr/>
            <p:nvPr/>
          </p:nvSpPr>
          <p:spPr>
            <a:xfrm>
              <a:off x="502920" y="2423160"/>
              <a:ext cx="2103120" cy="2011680"/>
            </a:xfrm>
            <a:prstGeom prst="roundRect">
              <a:avLst>
                <a:gd name="adj" fmla="val 3636"/>
              </a:avLst>
            </a:prstGeom>
            <a:solidFill>
              <a:srgbClr val="F4F5F7"/>
            </a:solidFill>
            <a:ln>
              <a:noFill/>
            </a:ln>
            <a:effectLst>
              <a:outerShdw blurRad="1016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667512" y="2551176"/>
              <a:ext cx="4572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rgbClr val="2563EB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600200" y="2578608"/>
              <a:ext cx="9144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Calibri"/>
                <a:buNone/>
              </a:pPr>
              <a:r>
                <a:rPr lang="en-US" sz="10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~2 min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6" name="Google Shape;166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5880" y="2971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6"/>
            <p:cNvSpPr/>
            <p:nvPr/>
          </p:nvSpPr>
          <p:spPr>
            <a:xfrm>
              <a:off x="640080" y="3538728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Copy to local disk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594360" y="3931920"/>
              <a:ext cx="19202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Avoids Drive I/O timeout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during byte-level conversion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60904" y="3319272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6"/>
            <p:cNvSpPr/>
            <p:nvPr/>
          </p:nvSpPr>
          <p:spPr>
            <a:xfrm>
              <a:off x="2898648" y="2423160"/>
              <a:ext cx="2103120" cy="2011680"/>
            </a:xfrm>
            <a:prstGeom prst="roundRect">
              <a:avLst>
                <a:gd name="adj" fmla="val 3636"/>
              </a:avLst>
            </a:prstGeom>
            <a:solidFill>
              <a:srgbClr val="F4F5F7"/>
            </a:solidFill>
            <a:ln>
              <a:noFill/>
            </a:ln>
            <a:effectLst>
              <a:outerShdw blurRad="1016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3063240" y="2551176"/>
              <a:ext cx="4572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rgbClr val="2563EB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3995928" y="2578608"/>
              <a:ext cx="9144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Calibri"/>
                <a:buNone/>
              </a:pPr>
              <a:r>
                <a:rPr lang="en-US" sz="10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~4 min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3" name="Google Shape;173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721608" y="2971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6"/>
            <p:cNvSpPr/>
            <p:nvPr/>
          </p:nvSpPr>
          <p:spPr>
            <a:xfrm>
              <a:off x="3035808" y="3538728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212121"/>
                  </a:solidFill>
                  <a:latin typeface="Calibri"/>
                  <a:ea typeface="Calibri"/>
                  <a:cs typeface="Calibri"/>
                  <a:sym typeface="Calibri"/>
                </a:rPr>
                <a:t>Build llama.cpp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2990088" y="3931920"/>
              <a:ext cx="19202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Clone + cmake build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llama-quantize + llama-cli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6" name="Google Shape;176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56632" y="3319272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6"/>
            <p:cNvSpPr/>
            <p:nvPr/>
          </p:nvSpPr>
          <p:spPr>
            <a:xfrm>
              <a:off x="5294376" y="2423160"/>
              <a:ext cx="2103120" cy="2011680"/>
            </a:xfrm>
            <a:prstGeom prst="roundRect">
              <a:avLst>
                <a:gd name="adj" fmla="val 3636"/>
              </a:avLst>
            </a:prstGeom>
            <a:solidFill>
              <a:srgbClr val="2563EB"/>
            </a:solidFill>
            <a:ln>
              <a:noFill/>
            </a:ln>
            <a:effectLst>
              <a:outerShdw blurRad="1016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5458968" y="2551176"/>
              <a:ext cx="4572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rgbClr val="2563EB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6391656" y="2578608"/>
              <a:ext cx="9144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1000"/>
                <a:buFont typeface="Calibri"/>
                <a:buNone/>
              </a:pPr>
              <a:r>
                <a:rPr lang="en-US" sz="100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~2 min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0" name="Google Shape;180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7336" y="2971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6"/>
            <p:cNvSpPr/>
            <p:nvPr/>
          </p:nvSpPr>
          <p:spPr>
            <a:xfrm>
              <a:off x="5431536" y="3538728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Convert → GGUF F16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385816" y="3931920"/>
              <a:ext cx="19202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convert_hf_to_gguf.py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lossless full-precision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3" name="Google Shape;183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52360" y="3319272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6"/>
            <p:cNvSpPr/>
            <p:nvPr/>
          </p:nvSpPr>
          <p:spPr>
            <a:xfrm>
              <a:off x="7690104" y="2423160"/>
              <a:ext cx="2103120" cy="2011680"/>
            </a:xfrm>
            <a:prstGeom prst="roundRect">
              <a:avLst>
                <a:gd name="adj" fmla="val 3636"/>
              </a:avLst>
            </a:prstGeom>
            <a:solidFill>
              <a:srgbClr val="1C1F26"/>
            </a:solidFill>
            <a:ln>
              <a:noFill/>
            </a:ln>
            <a:effectLst>
              <a:outerShdw blurRad="1016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7854696" y="2551176"/>
              <a:ext cx="4572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rgbClr val="2563EB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8787384" y="2578608"/>
              <a:ext cx="9144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1000"/>
                <a:buFont typeface="Calibri"/>
                <a:buNone/>
              </a:pPr>
              <a:r>
                <a:rPr lang="en-US" sz="100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~3 min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7" name="Google Shape;187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513064" y="2971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6"/>
            <p:cNvSpPr/>
            <p:nvPr/>
          </p:nvSpPr>
          <p:spPr>
            <a:xfrm>
              <a:off x="7827264" y="3538728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Quantize → Q4_K_M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7781544" y="3931920"/>
              <a:ext cx="19202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llama-quantize binary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3–4× compression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0" name="Google Shape;190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48088" y="3319272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6"/>
            <p:cNvSpPr/>
            <p:nvPr/>
          </p:nvSpPr>
          <p:spPr>
            <a:xfrm>
              <a:off x="10085832" y="2423160"/>
              <a:ext cx="2103120" cy="2011680"/>
            </a:xfrm>
            <a:prstGeom prst="roundRect">
              <a:avLst>
                <a:gd name="adj" fmla="val 3636"/>
              </a:avLst>
            </a:prstGeom>
            <a:solidFill>
              <a:srgbClr val="16A34A"/>
            </a:solidFill>
            <a:ln>
              <a:noFill/>
            </a:ln>
            <a:effectLst>
              <a:outerShdw blurRad="1016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10250424" y="2551176"/>
              <a:ext cx="4572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rgbClr val="2563EB"/>
                  </a:solidFill>
                  <a:latin typeface="Cambria"/>
                  <a:ea typeface="Cambria"/>
                  <a:cs typeface="Cambria"/>
                  <a:sym typeface="Cambria"/>
                </a:rPr>
                <a:t>5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1183112" y="2578608"/>
              <a:ext cx="9144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1000"/>
                <a:buFont typeface="Calibri"/>
                <a:buNone/>
              </a:pPr>
              <a:r>
                <a:rPr lang="en-US" sz="100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&lt; 1 min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4" name="Google Shape;194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908792" y="2971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6"/>
            <p:cNvSpPr/>
            <p:nvPr/>
          </p:nvSpPr>
          <p:spPr>
            <a:xfrm>
              <a:off x="10222992" y="3538728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Inference test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10177272" y="3931920"/>
              <a:ext cx="19202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llama-cli sanity check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7BDC6"/>
                </a:buClr>
                <a:buSzPts val="950"/>
                <a:buFont typeface="Calibri"/>
                <a:buNone/>
              </a:pPr>
              <a:r>
                <a:rPr lang="en-US" sz="950" b="0" i="0" u="none" strike="noStrike" cap="none">
                  <a:solidFill>
                    <a:srgbClr val="B7BDC6"/>
                  </a:solidFill>
                  <a:latin typeface="Calibri"/>
                  <a:ea typeface="Calibri"/>
                  <a:cs typeface="Calibri"/>
                  <a:sym typeface="Calibri"/>
                </a:rPr>
                <a:t>before evaluation</a:t>
              </a:r>
              <a:endParaRPr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6"/>
          <p:cNvSpPr/>
          <p:nvPr/>
        </p:nvSpPr>
        <p:spPr>
          <a:xfrm>
            <a:off x="502920" y="4663440"/>
            <a:ext cx="11155680" cy="1874520"/>
          </a:xfrm>
          <a:prstGeom prst="roundRect">
            <a:avLst>
              <a:gd name="adj" fmla="val 2927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31520" y="480060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Step 3 — convert HF → GGUF F16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python convert_hf_to_gguf.py /content/medilearn_finetuned_hf --outfile medilearn_f16.gguf --outtype f16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Step 4 — quantize F16 → Q4_K_M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./build/bin/llama-quantize medilearn_f16.gguf medilearn_q4_k_m.gguf Q4_K_M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4 · CPU INFERENCE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Running the Model with llama-cli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15727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llama-cli is a C++ binary that loads the GGUF file, applies the chat template, generates tokens, and streams the output — no Python, no Transformers, no GPU required.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233172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77240" y="24505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ourier New"/>
                <a:ea typeface="Courier New"/>
                <a:cs typeface="Courier New"/>
                <a:sym typeface="Courier New"/>
              </a:rPr>
              <a:t># Colab: run inference via subprocess (simulates true edge deployment)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77240" y="276148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 = subprocess.run([LLAMA_CLI,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  '--model', GGUF_Q4, '--prompt', prompt,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  '--n-predict', '128', '--threads', '4', '--no-display-prompt'],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  capture_output=True, text=True)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48640" y="4187952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On your laptop (after downloading the .gguf):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48640" y="4590288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777240" y="47091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llama-cli \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--model ~/models/medilearn_q4_k_m.gguf \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--prompt "&lt;|im_start|&gt;user\nWhat are the first-line treatments for bacterial meningitis?&lt;|im_end|&gt;\n&lt;|im_start|&gt;assistant\n" \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--n-predict 128 --threads 4 --no-display-prompt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4 · CPU INFERENCE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Laptop Setup — Install llama.cpp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15727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While the GGUF download is running, set up llama.cpp on your machine. The install takes about the same time as the download — they run in parallel.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48640" y="24231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C1F26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651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1280160" y="26517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macOS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31520" y="3200400"/>
            <a:ext cx="3154680" cy="1691640"/>
          </a:xfrm>
          <a:prstGeom prst="roundRect">
            <a:avLst>
              <a:gd name="adj" fmla="val 2703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896112" y="3319272"/>
            <a:ext cx="282549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brew install llama.cpp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77240" y="5056632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One command — Homebrew handles the build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251960" y="24231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6454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0" y="2651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4983480" y="26517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Linux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434840" y="3200400"/>
            <a:ext cx="3154680" cy="1691640"/>
          </a:xfrm>
          <a:prstGeom prst="roundRect">
            <a:avLst>
              <a:gd name="adj" fmla="val 2703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4599432" y="3319272"/>
            <a:ext cx="282549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git clone --depth 1 https://github.com/ggerganov/llama.cpp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cd llama.cpp &amp;&amp; cmake -B build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cmake --build build -j$(nproc)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480560" y="5056632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CMake build — takes ~3 min on modern hardware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955280" y="24231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3A8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3880" y="2651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8686800" y="26517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Windows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138160" y="3200400"/>
            <a:ext cx="3154680" cy="1691640"/>
          </a:xfrm>
          <a:prstGeom prst="roundRect">
            <a:avLst>
              <a:gd name="adj" fmla="val 2703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302752" y="3319272"/>
            <a:ext cx="282549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winget install ggerganov.llama.cpp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or: download pre-built .zip from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# github.com/ggerganov/llama.cpp/releases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183880" y="5056632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winget one-liner or pre-built binary zip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48640" y="171907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822960" y="1719072"/>
            <a:ext cx="35661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GGUF = portable, self-contained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572000" y="1719072"/>
            <a:ext cx="6858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One file carries weights + tokenizer + template — no HuggingFace runtime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48640" y="261518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822960" y="2615184"/>
            <a:ext cx="35661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Q4_K_M: minimal accuracy cost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572000" y="2615184"/>
            <a:ext cx="6858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~2–3 point drop for a 3–4× size reduction — the right tradeoff for most edge deployments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48640" y="351129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822960" y="3511296"/>
            <a:ext cx="35661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CPU inference is viable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72000" y="3511296"/>
            <a:ext cx="6858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8–15 tok/s on a modern laptop CPU: usable for interactive medical Q&amp;A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48640" y="440740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822960" y="4407408"/>
            <a:ext cx="35661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Privacy is the killer use case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572000" y="4407408"/>
            <a:ext cx="6858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Edge deployment is the only architecture where patient data never leaves the device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530352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822960" y="5303520"/>
            <a:ext cx="35661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RAG and agents are addable at edge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572000" y="5303520"/>
            <a:ext cx="68580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GGUF + local ChromaDB + local embedding model = full Module 3 pipeline, no cloud required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D9488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9" name="Google Shape;289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1887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640080" y="19659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Workshop Complete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40080" y="2542032"/>
            <a:ext cx="9601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You've Built a Complete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Medical AI System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40080" y="4343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640080" y="44074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640080" y="47000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2953512" y="4343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2953512" y="44074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2953512" y="47000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Fine-Tune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266944" y="4343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5266944" y="44074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266944" y="47000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580376" y="4343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7580376" y="44074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M4–5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7580376" y="47000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9893808" y="4343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9893808" y="44074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9893808" y="47000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Edge GGUF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640080" y="532180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From a raw 135M-parameter model to a locally-deployed, fine-tuned, retrieval-grounded, agent-orchestrated medical AI — running entirely within Google Colab's free tier.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6 · EDGE AI &amp; TINYML: DEPLOYING SLMs BEYOND THE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Microsoft Office PowerPoint</Application>
  <PresentationFormat>Widescreen</PresentationFormat>
  <Paragraphs>209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Sanath R</cp:lastModifiedBy>
  <cp:revision>2</cp:revision>
  <dcterms:created xsi:type="dcterms:W3CDTF">2026-07-06T11:56:26Z</dcterms:created>
  <dcterms:modified xsi:type="dcterms:W3CDTF">2026-08-08T03:27:04Z</dcterms:modified>
</cp:coreProperties>
</file>